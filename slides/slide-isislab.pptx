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200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3769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FFDB13"/>
          </a:solidFill>
          <a:ln w="12700">
            <a:solidFill>
              <a:srgbClr val="FFDB1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mnt/data/ppt_logo_assets/logo_standard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84" y="348815"/>
            <a:ext cx="1265926" cy="1265926"/>
          </a:xfrm>
          <a:prstGeom prst="rect">
            <a:avLst/>
          </a:prstGeom>
        </p:spPr>
      </p:pic>
      <p:pic>
        <p:nvPicPr>
          <p:cNvPr id="5" name="Image 1" descr="/mnt/data/ppt_logo_assets/dipartimento_informatica_logo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9290" y="303401"/>
            <a:ext cx="1265926" cy="1265926"/>
          </a:xfrm>
          <a:prstGeom prst="rect">
            <a:avLst/>
          </a:prstGeom>
        </p:spPr>
      </p:pic>
      <p:pic>
        <p:nvPicPr>
          <p:cNvPr id="6" name="Image 2" descr="/mnt/data/ppt_logo_assets/topo_water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7716" y="1569327"/>
            <a:ext cx="5957500" cy="44681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7240" y="2194560"/>
            <a:ext cx="1022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54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Research Paper Presentation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Template</a:t>
            </a:r>
            <a:endParaRPr lang="en-US" sz="5400" dirty="0"/>
          </a:p>
        </p:txBody>
      </p:sp>
      <p:sp>
        <p:nvSpPr>
          <p:cNvPr id="9" name="Text 4"/>
          <p:cNvSpPr/>
          <p:nvPr/>
        </p:nvSpPr>
        <p:spPr>
          <a:xfrm>
            <a:off x="786383" y="3913632"/>
            <a:ext cx="945112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566C7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A reusable ISISLab/UNISA Beamer theme for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566C7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clear scientific storytelling</a:t>
            </a:r>
            <a:endParaRPr lang="en-US" sz="3600" dirty="0"/>
          </a:p>
        </p:txBody>
      </p:sp>
      <p:sp>
        <p:nvSpPr>
          <p:cNvPr id="10" name="Shape 5"/>
          <p:cNvSpPr/>
          <p:nvPr/>
        </p:nvSpPr>
        <p:spPr>
          <a:xfrm>
            <a:off x="804672" y="4800600"/>
            <a:ext cx="566928" cy="228600"/>
          </a:xfrm>
          <a:prstGeom prst="roundRect">
            <a:avLst>
              <a:gd name="adj" fmla="val 20000"/>
            </a:avLst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 sz="3200"/>
          </a:p>
        </p:txBody>
      </p:sp>
      <p:sp>
        <p:nvSpPr>
          <p:cNvPr id="11" name="Text 6"/>
          <p:cNvSpPr/>
          <p:nvPr/>
        </p:nvSpPr>
        <p:spPr>
          <a:xfrm>
            <a:off x="841248" y="4841748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ISISLab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1444752" y="4800600"/>
            <a:ext cx="2630640" cy="228600"/>
          </a:xfrm>
          <a:prstGeom prst="roundRect">
            <a:avLst>
              <a:gd name="adj" fmla="val 20000"/>
            </a:avLst>
          </a:prstGeom>
          <a:solidFill>
            <a:srgbClr val="DF242B"/>
          </a:solidFill>
          <a:ln w="12700">
            <a:solidFill>
              <a:srgbClr val="DF242B"/>
            </a:solidFill>
            <a:prstDash val="solid"/>
          </a:ln>
        </p:spPr>
        <p:txBody>
          <a:bodyPr/>
          <a:lstStyle/>
          <a:p>
            <a:endParaRPr lang="it-IT" sz="3200"/>
          </a:p>
        </p:txBody>
      </p:sp>
      <p:sp>
        <p:nvSpPr>
          <p:cNvPr id="13" name="Text 8"/>
          <p:cNvSpPr/>
          <p:nvPr/>
        </p:nvSpPr>
        <p:spPr>
          <a:xfrm>
            <a:off x="1481328" y="4841748"/>
            <a:ext cx="2594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Department of Computer Science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111968" y="4800600"/>
            <a:ext cx="3052399" cy="228600"/>
          </a:xfrm>
          <a:prstGeom prst="roundRect">
            <a:avLst>
              <a:gd name="adj" fmla="val 20000"/>
            </a:avLst>
          </a:prstGeom>
          <a:solidFill>
            <a:srgbClr val="FFDB13"/>
          </a:solidFill>
          <a:ln w="12700">
            <a:solidFill>
              <a:srgbClr val="FFDB13"/>
            </a:solidFill>
            <a:prstDash val="solid"/>
          </a:ln>
        </p:spPr>
        <p:txBody>
          <a:bodyPr/>
          <a:lstStyle/>
          <a:p>
            <a:endParaRPr lang="it-IT" sz="3200"/>
          </a:p>
        </p:txBody>
      </p:sp>
      <p:sp>
        <p:nvSpPr>
          <p:cNvPr id="15" name="Text 10"/>
          <p:cNvSpPr/>
          <p:nvPr/>
        </p:nvSpPr>
        <p:spPr>
          <a:xfrm>
            <a:off x="4148545" y="4888883"/>
            <a:ext cx="3015822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Università degli Studi di Salerno (Italy)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804672" y="519379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D87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Presenter Name   ·   July 20,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mnt/data/ppt_logo_assets/logo_standard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060705"/>
            <a:ext cx="5593080" cy="5593080"/>
          </a:xfrm>
          <a:prstGeom prst="rect">
            <a:avLst/>
          </a:prstGeom>
        </p:spPr>
      </p:pic>
      <p:pic>
        <p:nvPicPr>
          <p:cNvPr id="6" name="Image 2" descr="/mnt/data/ppt_logo_assets/topo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5460" y="292608"/>
            <a:ext cx="951052" cy="71329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5488" y="420624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Agenda</a:t>
            </a:r>
            <a:endParaRPr lang="en-US" sz="3100" dirty="0"/>
          </a:p>
        </p:txBody>
      </p:sp>
      <p:sp>
        <p:nvSpPr>
          <p:cNvPr id="8" name="Shape 3"/>
          <p:cNvSpPr/>
          <p:nvPr/>
        </p:nvSpPr>
        <p:spPr>
          <a:xfrm>
            <a:off x="475488" y="1005840"/>
            <a:ext cx="11247120" cy="0"/>
          </a:xfrm>
          <a:prstGeom prst="line">
            <a:avLst/>
          </a:prstGeom>
          <a:noFill/>
          <a:ln w="1397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4"/>
          <p:cNvSpPr/>
          <p:nvPr/>
        </p:nvSpPr>
        <p:spPr>
          <a:xfrm>
            <a:off x="73152" y="65653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Research Paper Presentation Template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11430000" y="65196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2/31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1143000" y="1591056"/>
            <a:ext cx="292608" cy="292608"/>
          </a:xfrm>
          <a:prstGeom prst="ellipse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9"/>
          <p:cNvSpPr/>
          <p:nvPr/>
        </p:nvSpPr>
        <p:spPr>
          <a:xfrm>
            <a:off x="1143000" y="1645920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581912" y="16093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Motivation and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Problem</a:t>
            </a:r>
            <a:endParaRPr lang="en-US" sz="1900" dirty="0"/>
          </a:p>
        </p:txBody>
      </p:sp>
      <p:sp>
        <p:nvSpPr>
          <p:cNvPr id="16" name="Shape 11"/>
          <p:cNvSpPr/>
          <p:nvPr/>
        </p:nvSpPr>
        <p:spPr>
          <a:xfrm>
            <a:off x="1143000" y="2569464"/>
            <a:ext cx="292608" cy="292608"/>
          </a:xfrm>
          <a:prstGeom prst="ellipse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2"/>
          <p:cNvSpPr/>
          <p:nvPr/>
        </p:nvSpPr>
        <p:spPr>
          <a:xfrm>
            <a:off x="1143000" y="2624328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581912" y="25877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Related Work and Gap</a:t>
            </a:r>
            <a:endParaRPr lang="en-US" sz="1900" dirty="0"/>
          </a:p>
        </p:txBody>
      </p:sp>
      <p:sp>
        <p:nvSpPr>
          <p:cNvPr id="19" name="Shape 14"/>
          <p:cNvSpPr/>
          <p:nvPr/>
        </p:nvSpPr>
        <p:spPr>
          <a:xfrm>
            <a:off x="1143000" y="3547872"/>
            <a:ext cx="292608" cy="292608"/>
          </a:xfrm>
          <a:prstGeom prst="ellipse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5"/>
          <p:cNvSpPr/>
          <p:nvPr/>
        </p:nvSpPr>
        <p:spPr>
          <a:xfrm>
            <a:off x="1143000" y="3602736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581912" y="35661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Method</a:t>
            </a:r>
            <a:endParaRPr lang="en-US" sz="1900" dirty="0"/>
          </a:p>
        </p:txBody>
      </p:sp>
      <p:sp>
        <p:nvSpPr>
          <p:cNvPr id="22" name="Shape 17"/>
          <p:cNvSpPr/>
          <p:nvPr/>
        </p:nvSpPr>
        <p:spPr>
          <a:xfrm>
            <a:off x="6629400" y="1591056"/>
            <a:ext cx="292608" cy="292608"/>
          </a:xfrm>
          <a:prstGeom prst="ellipse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18"/>
          <p:cNvSpPr/>
          <p:nvPr/>
        </p:nvSpPr>
        <p:spPr>
          <a:xfrm>
            <a:off x="6629400" y="1645920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7068312" y="16093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Experimental Design</a:t>
            </a:r>
            <a:endParaRPr lang="en-US" sz="1900" dirty="0"/>
          </a:p>
        </p:txBody>
      </p:sp>
      <p:sp>
        <p:nvSpPr>
          <p:cNvPr id="25" name="Shape 20"/>
          <p:cNvSpPr/>
          <p:nvPr/>
        </p:nvSpPr>
        <p:spPr>
          <a:xfrm>
            <a:off x="6629400" y="2569464"/>
            <a:ext cx="292608" cy="292608"/>
          </a:xfrm>
          <a:prstGeom prst="ellipse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1"/>
          <p:cNvSpPr/>
          <p:nvPr/>
        </p:nvSpPr>
        <p:spPr>
          <a:xfrm>
            <a:off x="6629400" y="2624328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7068312" y="25877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Results</a:t>
            </a:r>
            <a:endParaRPr lang="en-US" sz="1900" dirty="0"/>
          </a:p>
        </p:txBody>
      </p:sp>
      <p:sp>
        <p:nvSpPr>
          <p:cNvPr id="28" name="Shape 23"/>
          <p:cNvSpPr/>
          <p:nvPr/>
        </p:nvSpPr>
        <p:spPr>
          <a:xfrm>
            <a:off x="6629400" y="3547872"/>
            <a:ext cx="292608" cy="292608"/>
          </a:xfrm>
          <a:prstGeom prst="ellipse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4"/>
          <p:cNvSpPr/>
          <p:nvPr/>
        </p:nvSpPr>
        <p:spPr>
          <a:xfrm>
            <a:off x="6629400" y="3602736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7068312" y="3566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Discussion and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Conclusion</a:t>
            </a:r>
            <a:endParaRPr lang="en-US" sz="1900" dirty="0"/>
          </a:p>
        </p:txBody>
      </p:sp>
      <p:sp>
        <p:nvSpPr>
          <p:cNvPr id="31" name="Shape 26"/>
          <p:cNvSpPr/>
          <p:nvPr/>
        </p:nvSpPr>
        <p:spPr>
          <a:xfrm>
            <a:off x="6629400" y="4526280"/>
            <a:ext cx="292608" cy="292608"/>
          </a:xfrm>
          <a:prstGeom prst="ellipse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27"/>
          <p:cNvSpPr/>
          <p:nvPr/>
        </p:nvSpPr>
        <p:spPr>
          <a:xfrm>
            <a:off x="6629400" y="458114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7068312" y="45445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Slide Layout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Templates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35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FFDB13"/>
          </a:solidFill>
          <a:ln w="12700">
            <a:solidFill>
              <a:srgbClr val="FFDB1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mnt/data/ppt_logo_assets/logo_standard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02920"/>
            <a:ext cx="1325880" cy="1325880"/>
          </a:xfrm>
          <a:prstGeom prst="rect">
            <a:avLst/>
          </a:prstGeom>
        </p:spPr>
      </p:pic>
      <p:pic>
        <p:nvPicPr>
          <p:cNvPr id="6" name="Image 1" descr="/mnt/data/ppt_logo_assets/topo_so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5640" y="1600200"/>
            <a:ext cx="3413760" cy="2560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4128" y="19202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B13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005840" y="2770632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Motivation and Problem</a:t>
            </a:r>
            <a:endParaRPr lang="en-US" sz="3800" dirty="0"/>
          </a:p>
        </p:txBody>
      </p:sp>
      <p:sp>
        <p:nvSpPr>
          <p:cNvPr id="9" name="Text 5"/>
          <p:cNvSpPr/>
          <p:nvPr/>
        </p:nvSpPr>
        <p:spPr>
          <a:xfrm>
            <a:off x="1005840" y="41605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DEAF3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Define the research question and why it matters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914400" y="5349240"/>
            <a:ext cx="2560320" cy="0"/>
          </a:xfrm>
          <a:prstGeom prst="line">
            <a:avLst/>
          </a:prstGeom>
          <a:noFill/>
          <a:ln w="27940">
            <a:solidFill>
              <a:srgbClr val="FFDB1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7"/>
          <p:cNvSpPr/>
          <p:nvPr/>
        </p:nvSpPr>
        <p:spPr>
          <a:xfrm>
            <a:off x="7178040" y="5559552"/>
            <a:ext cx="822960" cy="228600"/>
          </a:xfrm>
          <a:prstGeom prst="roundRect">
            <a:avLst>
              <a:gd name="adj" fmla="val 20000"/>
            </a:avLst>
          </a:prstGeom>
          <a:solidFill>
            <a:srgbClr val="FFDB13"/>
          </a:solidFill>
          <a:ln w="12700">
            <a:solidFill>
              <a:srgbClr val="FFDB1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8"/>
          <p:cNvSpPr/>
          <p:nvPr/>
        </p:nvSpPr>
        <p:spPr>
          <a:xfrm>
            <a:off x="7214616" y="56007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Problem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8092440" y="55229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DDEAF3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State the gap, audience, and practical consequence.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mnt/data/ppt_logo_assets/logo_standard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5593080" cy="5593080"/>
          </a:xfrm>
          <a:prstGeom prst="rect">
            <a:avLst/>
          </a:prstGeom>
        </p:spPr>
      </p:pic>
      <p:pic>
        <p:nvPicPr>
          <p:cNvPr id="6" name="Image 2" descr="/mnt/data/ppt_logo_assets/topo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5460" y="292608"/>
            <a:ext cx="951052" cy="71329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5488" y="420624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One clear research story</a:t>
            </a:r>
            <a:endParaRPr lang="en-US" sz="3100" dirty="0"/>
          </a:p>
        </p:txBody>
      </p:sp>
      <p:sp>
        <p:nvSpPr>
          <p:cNvPr id="8" name="Shape 3"/>
          <p:cNvSpPr/>
          <p:nvPr/>
        </p:nvSpPr>
        <p:spPr>
          <a:xfrm>
            <a:off x="475488" y="1005840"/>
            <a:ext cx="11247120" cy="0"/>
          </a:xfrm>
          <a:prstGeom prst="line">
            <a:avLst/>
          </a:prstGeom>
          <a:noFill/>
          <a:ln w="1397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4"/>
          <p:cNvSpPr/>
          <p:nvPr/>
        </p:nvSpPr>
        <p:spPr>
          <a:xfrm>
            <a:off x="73152" y="65653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Research Paper Presentation Template   ·   Motivation and Problem</a:t>
            </a:r>
            <a:endParaRPr lang="en-US" sz="640" dirty="0"/>
          </a:p>
        </p:txBody>
      </p:sp>
      <p:sp>
        <p:nvSpPr>
          <p:cNvPr id="10" name="Text 5"/>
          <p:cNvSpPr/>
          <p:nvPr/>
        </p:nvSpPr>
        <p:spPr>
          <a:xfrm>
            <a:off x="11430000" y="65196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4/31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777240" y="1965960"/>
            <a:ext cx="44805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9"/>
          <p:cNvSpPr/>
          <p:nvPr/>
        </p:nvSpPr>
        <p:spPr>
          <a:xfrm>
            <a:off x="777240" y="1965960"/>
            <a:ext cx="4480560" cy="329184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0"/>
          <p:cNvSpPr/>
          <p:nvPr/>
        </p:nvSpPr>
        <p:spPr>
          <a:xfrm>
            <a:off x="850392" y="2020824"/>
            <a:ext cx="4334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Narrative flow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960120" y="2423160"/>
            <a:ext cx="292608" cy="292608"/>
          </a:xfrm>
          <a:prstGeom prst="ellipse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2"/>
          <p:cNvSpPr/>
          <p:nvPr/>
        </p:nvSpPr>
        <p:spPr>
          <a:xfrm>
            <a:off x="960120" y="247802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399032" y="244144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Here is the problem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60120" y="3108960"/>
            <a:ext cx="292608" cy="292608"/>
          </a:xfrm>
          <a:prstGeom prst="ellipse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5"/>
          <p:cNvSpPr/>
          <p:nvPr/>
        </p:nvSpPr>
        <p:spPr>
          <a:xfrm>
            <a:off x="960120" y="316382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399032" y="312724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It matters to a clear audience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960120" y="3794760"/>
            <a:ext cx="292608" cy="292608"/>
          </a:xfrm>
          <a:prstGeom prst="ellipse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18"/>
          <p:cNvSpPr/>
          <p:nvPr/>
        </p:nvSpPr>
        <p:spPr>
          <a:xfrm>
            <a:off x="960120" y="384962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399032" y="381304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There is a gap in current work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5943600" y="1965960"/>
            <a:ext cx="51206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1"/>
          <p:cNvSpPr/>
          <p:nvPr/>
        </p:nvSpPr>
        <p:spPr>
          <a:xfrm>
            <a:off x="5943600" y="1965960"/>
            <a:ext cx="5120640" cy="329184"/>
          </a:xfrm>
          <a:prstGeom prst="rect">
            <a:avLst/>
          </a:prstGeom>
          <a:solidFill>
            <a:srgbClr val="2BAA8E"/>
          </a:solidFill>
          <a:ln w="12700">
            <a:solidFill>
              <a:srgbClr val="2BAA8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2"/>
          <p:cNvSpPr/>
          <p:nvPr/>
        </p:nvSpPr>
        <p:spPr>
          <a:xfrm>
            <a:off x="6016752" y="2020824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Source guidance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6071616" y="2404872"/>
            <a:ext cx="4864608" cy="22128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A strong research paper centers on one reusable idea and makes the claim explicit.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This demo follows the Microsoft Research writing structure: problem, idea, evidence, comparison, conclusion.ᵃ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ᵃ Inspired by Simon Peyton Jones, How to write a great research paper, Microsoft Research, 2016.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mnt/data/ppt_logo_assets/logo_standard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5687568" cy="5687568"/>
          </a:xfrm>
          <a:prstGeom prst="rect">
            <a:avLst/>
          </a:prstGeom>
        </p:spPr>
      </p:pic>
      <p:pic>
        <p:nvPicPr>
          <p:cNvPr id="6" name="Image 2" descr="/mnt/data/ppt_logo_assets/topo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5459" y="292608"/>
            <a:ext cx="951053" cy="71329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5488" y="420624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Problem and contributions</a:t>
            </a:r>
            <a:endParaRPr lang="en-US" sz="3100" dirty="0"/>
          </a:p>
        </p:txBody>
      </p:sp>
      <p:sp>
        <p:nvSpPr>
          <p:cNvPr id="8" name="Shape 3"/>
          <p:cNvSpPr/>
          <p:nvPr/>
        </p:nvSpPr>
        <p:spPr>
          <a:xfrm>
            <a:off x="475488" y="1005840"/>
            <a:ext cx="11247120" cy="0"/>
          </a:xfrm>
          <a:prstGeom prst="line">
            <a:avLst/>
          </a:prstGeom>
          <a:noFill/>
          <a:ln w="1397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4"/>
          <p:cNvSpPr/>
          <p:nvPr/>
        </p:nvSpPr>
        <p:spPr>
          <a:xfrm>
            <a:off x="73152" y="65653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Research Paper Presentation Template   ·   Motivation and Problem</a:t>
            </a:r>
            <a:endParaRPr lang="en-US" sz="640" dirty="0"/>
          </a:p>
        </p:txBody>
      </p:sp>
      <p:sp>
        <p:nvSpPr>
          <p:cNvPr id="10" name="Text 5"/>
          <p:cNvSpPr/>
          <p:nvPr/>
        </p:nvSpPr>
        <p:spPr>
          <a:xfrm>
            <a:off x="11430000" y="65196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5/31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777240" y="1783080"/>
            <a:ext cx="4892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9"/>
          <p:cNvSpPr/>
          <p:nvPr/>
        </p:nvSpPr>
        <p:spPr>
          <a:xfrm>
            <a:off x="777240" y="1783080"/>
            <a:ext cx="4892040" cy="329184"/>
          </a:xfrm>
          <a:prstGeom prst="rect">
            <a:avLst/>
          </a:prstGeom>
          <a:solidFill>
            <a:srgbClr val="DF242B"/>
          </a:solidFill>
          <a:ln w="12700">
            <a:solidFill>
              <a:srgbClr val="DF2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0"/>
          <p:cNvSpPr/>
          <p:nvPr/>
        </p:nvSpPr>
        <p:spPr>
          <a:xfrm>
            <a:off x="850392" y="1837944"/>
            <a:ext cx="4745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Problem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905256" y="2221992"/>
            <a:ext cx="4636008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Existing systems are accurate in controlled settings, but performance degrades when the data distribution changes. This creates unreliable outcomes in real deployments.</a:t>
            </a:r>
            <a:endParaRPr lang="en-US" sz="1340" dirty="0"/>
          </a:p>
        </p:txBody>
      </p:sp>
      <p:sp>
        <p:nvSpPr>
          <p:cNvPr id="17" name="Shape 12"/>
          <p:cNvSpPr/>
          <p:nvPr/>
        </p:nvSpPr>
        <p:spPr>
          <a:xfrm>
            <a:off x="777240" y="3730752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3"/>
          <p:cNvSpPr/>
          <p:nvPr/>
        </p:nvSpPr>
        <p:spPr>
          <a:xfrm>
            <a:off x="777240" y="3730752"/>
            <a:ext cx="4892040" cy="329184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4"/>
          <p:cNvSpPr/>
          <p:nvPr/>
        </p:nvSpPr>
        <p:spPr>
          <a:xfrm>
            <a:off x="850392" y="3785616"/>
            <a:ext cx="4745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Research question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905256" y="4169664"/>
            <a:ext cx="4636008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Can we design a method that remains accurate, efficient, and interpretable under realistic distribution shifts?</a:t>
            </a:r>
            <a:endParaRPr lang="en-US" sz="1340" dirty="0"/>
          </a:p>
        </p:txBody>
      </p:sp>
      <p:sp>
        <p:nvSpPr>
          <p:cNvPr id="21" name="Shape 16"/>
          <p:cNvSpPr/>
          <p:nvPr/>
        </p:nvSpPr>
        <p:spPr>
          <a:xfrm>
            <a:off x="6309360" y="1783080"/>
            <a:ext cx="46634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17"/>
          <p:cNvSpPr/>
          <p:nvPr/>
        </p:nvSpPr>
        <p:spPr>
          <a:xfrm>
            <a:off x="6309360" y="1783080"/>
            <a:ext cx="4663440" cy="329184"/>
          </a:xfrm>
          <a:prstGeom prst="rect">
            <a:avLst/>
          </a:prstGeom>
          <a:solidFill>
            <a:srgbClr val="2BAA8E"/>
          </a:solidFill>
          <a:ln w="12700">
            <a:solidFill>
              <a:srgbClr val="2BAA8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18"/>
          <p:cNvSpPr/>
          <p:nvPr/>
        </p:nvSpPr>
        <p:spPr>
          <a:xfrm>
            <a:off x="6382512" y="1837944"/>
            <a:ext cx="4517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Contributions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492240" y="2286000"/>
            <a:ext cx="292608" cy="292608"/>
          </a:xfrm>
          <a:prstGeom prst="ellipse">
            <a:avLst/>
          </a:prstGeom>
          <a:solidFill>
            <a:srgbClr val="2BAA8E"/>
          </a:solidFill>
          <a:ln w="12700">
            <a:solidFill>
              <a:srgbClr val="2BAA8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0"/>
          <p:cNvSpPr/>
          <p:nvPr/>
        </p:nvSpPr>
        <p:spPr>
          <a:xfrm>
            <a:off x="6492240" y="234086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931152" y="23042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A new robust learning formulation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6492240" y="2953512"/>
            <a:ext cx="292608" cy="292608"/>
          </a:xfrm>
          <a:prstGeom prst="ellipse">
            <a:avLst/>
          </a:prstGeom>
          <a:solidFill>
            <a:srgbClr val="2BAA8E"/>
          </a:solidFill>
          <a:ln w="12700">
            <a:solidFill>
              <a:srgbClr val="2BAA8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3"/>
          <p:cNvSpPr/>
          <p:nvPr/>
        </p:nvSpPr>
        <p:spPr>
          <a:xfrm>
            <a:off x="6492240" y="3008376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931152" y="29718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A reproducible experimental protocol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6492240" y="3621024"/>
            <a:ext cx="292608" cy="292608"/>
          </a:xfrm>
          <a:prstGeom prst="ellipse">
            <a:avLst/>
          </a:prstGeom>
          <a:solidFill>
            <a:srgbClr val="2BAA8E"/>
          </a:solidFill>
          <a:ln w="12700">
            <a:solidFill>
              <a:srgbClr val="2BAA8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6"/>
          <p:cNvSpPr/>
          <p:nvPr/>
        </p:nvSpPr>
        <p:spPr>
          <a:xfrm>
            <a:off x="6492240" y="3675888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6931152" y="36393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Evidence across three benchmark scenarios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35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FFDB13"/>
          </a:solidFill>
          <a:ln w="12700">
            <a:solidFill>
              <a:srgbClr val="FFDB1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mnt/data/ppt_logo_assets/logo_standard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" y="502919"/>
            <a:ext cx="1258101" cy="1258101"/>
          </a:xfrm>
          <a:prstGeom prst="rect">
            <a:avLst/>
          </a:prstGeom>
        </p:spPr>
      </p:pic>
      <p:pic>
        <p:nvPicPr>
          <p:cNvPr id="6" name="Image 1" descr="/mnt/data/ppt_logo_assets/topo_so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5640" y="1600200"/>
            <a:ext cx="3413760" cy="2560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4128" y="19202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9BEE7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SECTION 02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005840" y="2770632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Related Work and Gap</a:t>
            </a:r>
            <a:endParaRPr lang="en-US" sz="3800" dirty="0"/>
          </a:p>
        </p:txBody>
      </p:sp>
      <p:sp>
        <p:nvSpPr>
          <p:cNvPr id="9" name="Text 5"/>
          <p:cNvSpPr/>
          <p:nvPr/>
        </p:nvSpPr>
        <p:spPr>
          <a:xfrm>
            <a:off x="1005840" y="41605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DEAF3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Position the contribution without turning the talk into a bibliography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914400" y="5349240"/>
            <a:ext cx="2560320" cy="0"/>
          </a:xfrm>
          <a:prstGeom prst="line">
            <a:avLst/>
          </a:prstGeom>
          <a:noFill/>
          <a:ln w="27940">
            <a:solidFill>
              <a:srgbClr val="59BE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7"/>
          <p:cNvSpPr/>
          <p:nvPr/>
        </p:nvSpPr>
        <p:spPr>
          <a:xfrm>
            <a:off x="7178040" y="5559552"/>
            <a:ext cx="822960" cy="228600"/>
          </a:xfrm>
          <a:prstGeom prst="roundRect">
            <a:avLst>
              <a:gd name="adj" fmla="val 20000"/>
            </a:avLst>
          </a:prstGeom>
          <a:solidFill>
            <a:srgbClr val="59BEE7"/>
          </a:solidFill>
          <a:ln w="12700">
            <a:solidFill>
              <a:srgbClr val="59BE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8"/>
          <p:cNvSpPr/>
          <p:nvPr/>
        </p:nvSpPr>
        <p:spPr>
          <a:xfrm>
            <a:off x="7214616" y="56007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Positioning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8092440" y="55229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DDEAF3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Compare families of approaches around the unresolved gap.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mnt/data/ppt_logo_assets/logo_standard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4389120" cy="4389120"/>
          </a:xfrm>
          <a:prstGeom prst="rect">
            <a:avLst/>
          </a:prstGeom>
        </p:spPr>
      </p:pic>
      <p:pic>
        <p:nvPicPr>
          <p:cNvPr id="6" name="Image 2" descr="/mnt/data/ppt_logo_assets/topo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5460" y="292608"/>
            <a:ext cx="951052" cy="71329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5488" y="420624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Where the paper fits</a:t>
            </a:r>
            <a:endParaRPr lang="en-US" sz="3100" dirty="0"/>
          </a:p>
        </p:txBody>
      </p:sp>
      <p:sp>
        <p:nvSpPr>
          <p:cNvPr id="8" name="Shape 3"/>
          <p:cNvSpPr/>
          <p:nvPr/>
        </p:nvSpPr>
        <p:spPr>
          <a:xfrm>
            <a:off x="475488" y="1005840"/>
            <a:ext cx="11247120" cy="0"/>
          </a:xfrm>
          <a:prstGeom prst="line">
            <a:avLst/>
          </a:prstGeom>
          <a:noFill/>
          <a:ln w="1397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4"/>
          <p:cNvSpPr/>
          <p:nvPr/>
        </p:nvSpPr>
        <p:spPr>
          <a:xfrm>
            <a:off x="73152" y="65653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Research Paper Presentation Template   ·   Related Work and Gap</a:t>
            </a:r>
            <a:endParaRPr lang="en-US" sz="640" dirty="0"/>
          </a:p>
        </p:txBody>
      </p:sp>
      <p:sp>
        <p:nvSpPr>
          <p:cNvPr id="10" name="Text 5"/>
          <p:cNvSpPr/>
          <p:nvPr/>
        </p:nvSpPr>
        <p:spPr>
          <a:xfrm>
            <a:off x="11430000" y="65196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7/31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777240" y="2011680"/>
            <a:ext cx="34290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5240">
            <a:solidFill>
              <a:srgbClr val="009DD0">
                <a:alpha val="75000"/>
              </a:srgbClr>
            </a:solidFill>
            <a:prstDash val="solid"/>
          </a:ln>
          <a:effectLst>
            <a:outerShdw blurRad="12700" dist="50800" dir="2700000" algn="bl" rotWithShape="0">
              <a:srgbClr val="C8D2DA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9"/>
          <p:cNvSpPr/>
          <p:nvPr/>
        </p:nvSpPr>
        <p:spPr>
          <a:xfrm>
            <a:off x="777240" y="2176272"/>
            <a:ext cx="3429000" cy="493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9DD0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12</a:t>
            </a:r>
            <a:endParaRPr lang="en-US" sz="2800" dirty="0"/>
          </a:p>
        </p:txBody>
      </p:sp>
      <p:sp>
        <p:nvSpPr>
          <p:cNvPr id="15" name="Text 10"/>
          <p:cNvSpPr/>
          <p:nvPr/>
        </p:nvSpPr>
        <p:spPr>
          <a:xfrm>
            <a:off x="868680" y="2829702"/>
            <a:ext cx="3246120" cy="2596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core papers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77240" y="3703320"/>
            <a:ext cx="34290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5240">
            <a:solidFill>
              <a:srgbClr val="6655A4">
                <a:alpha val="75000"/>
              </a:srgbClr>
            </a:solidFill>
            <a:prstDash val="solid"/>
          </a:ln>
          <a:effectLst>
            <a:outerShdw blurRad="12700" dist="50800" dir="2700000" algn="bl" rotWithShape="0">
              <a:srgbClr val="C8D2DA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2"/>
          <p:cNvSpPr/>
          <p:nvPr/>
        </p:nvSpPr>
        <p:spPr>
          <a:xfrm>
            <a:off x="777240" y="3867912"/>
            <a:ext cx="3429000" cy="493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655A4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868680" y="4521342"/>
            <a:ext cx="3246120" cy="2596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main families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029200" y="1874520"/>
            <a:ext cx="60807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5"/>
          <p:cNvSpPr/>
          <p:nvPr/>
        </p:nvSpPr>
        <p:spPr>
          <a:xfrm>
            <a:off x="5029200" y="1874520"/>
            <a:ext cx="6080760" cy="329184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6"/>
          <p:cNvSpPr/>
          <p:nvPr/>
        </p:nvSpPr>
        <p:spPr>
          <a:xfrm>
            <a:off x="5102352" y="1929384"/>
            <a:ext cx="5934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Comparison logic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5157216" y="2313432"/>
            <a:ext cx="5824728" cy="795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Avoid listing related work too early. First explain the problem and the idea; then compare alternatives around the gap the paper addresses.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029200" y="3657600"/>
            <a:ext cx="60807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19"/>
          <p:cNvSpPr/>
          <p:nvPr/>
        </p:nvSpPr>
        <p:spPr>
          <a:xfrm>
            <a:off x="5029200" y="3657600"/>
            <a:ext cx="6080760" cy="329184"/>
          </a:xfrm>
          <a:prstGeom prst="rect">
            <a:avLst/>
          </a:prstGeom>
          <a:solidFill>
            <a:srgbClr val="6655A4"/>
          </a:solidFill>
          <a:ln w="12700">
            <a:solidFill>
              <a:srgbClr val="6655A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0"/>
          <p:cNvSpPr/>
          <p:nvPr/>
        </p:nvSpPr>
        <p:spPr>
          <a:xfrm>
            <a:off x="5102352" y="3712464"/>
            <a:ext cx="5934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Gap statement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5157216" y="4096512"/>
            <a:ext cx="5824728" cy="795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Prior work optimizes either accuracy or robustness, but does not jointly report reliability, computational cost, and interpretability.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mnt/data/ppt_logo_assets/logo_standard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4389120" cy="4389120"/>
          </a:xfrm>
          <a:prstGeom prst="rect">
            <a:avLst/>
          </a:prstGeom>
        </p:spPr>
      </p:pic>
      <p:pic>
        <p:nvPicPr>
          <p:cNvPr id="6" name="Image 2" descr="/mnt/data/ppt_logo_assets/topo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5460" y="292608"/>
            <a:ext cx="951052" cy="71329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5488" y="420624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Claims must map to evidence</a:t>
            </a:r>
            <a:endParaRPr lang="en-US" sz="3100" dirty="0"/>
          </a:p>
        </p:txBody>
      </p:sp>
      <p:sp>
        <p:nvSpPr>
          <p:cNvPr id="8" name="Shape 3"/>
          <p:cNvSpPr/>
          <p:nvPr/>
        </p:nvSpPr>
        <p:spPr>
          <a:xfrm>
            <a:off x="475488" y="1005840"/>
            <a:ext cx="11247120" cy="0"/>
          </a:xfrm>
          <a:prstGeom prst="line">
            <a:avLst/>
          </a:prstGeom>
          <a:noFill/>
          <a:ln w="1397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4"/>
          <p:cNvSpPr/>
          <p:nvPr/>
        </p:nvSpPr>
        <p:spPr>
          <a:xfrm>
            <a:off x="73152" y="65653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Research Paper Presentation Template   ·   Related Work and Gap</a:t>
            </a:r>
            <a:endParaRPr lang="en-US" sz="640" dirty="0"/>
          </a:p>
        </p:txBody>
      </p:sp>
      <p:sp>
        <p:nvSpPr>
          <p:cNvPr id="10" name="Text 5"/>
          <p:cNvSpPr/>
          <p:nvPr/>
        </p:nvSpPr>
        <p:spPr>
          <a:xfrm>
            <a:off x="11430000" y="65196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8/31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1828800" y="2331720"/>
            <a:ext cx="175564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2700" dist="50800" dir="2700000" algn="bl" rotWithShape="0">
              <a:srgbClr val="C6D0D9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9"/>
          <p:cNvSpPr/>
          <p:nvPr/>
        </p:nvSpPr>
        <p:spPr>
          <a:xfrm>
            <a:off x="1901952" y="2784348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Claim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901952" y="309981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What we promise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630168" y="3017520"/>
            <a:ext cx="219456" cy="0"/>
          </a:xfrm>
          <a:prstGeom prst="line">
            <a:avLst/>
          </a:prstGeom>
          <a:noFill/>
          <a:ln w="17780">
            <a:solidFill>
              <a:srgbClr val="009D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2"/>
          <p:cNvSpPr/>
          <p:nvPr/>
        </p:nvSpPr>
        <p:spPr>
          <a:xfrm>
            <a:off x="3895344" y="2331720"/>
            <a:ext cx="175564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2700" dist="50800" dir="2700000" algn="bl" rotWithShape="0">
              <a:srgbClr val="C6D0D9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3"/>
          <p:cNvSpPr/>
          <p:nvPr/>
        </p:nvSpPr>
        <p:spPr>
          <a:xfrm>
            <a:off x="3968496" y="2784348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Method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968496" y="309981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How we test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696712" y="3017520"/>
            <a:ext cx="219456" cy="0"/>
          </a:xfrm>
          <a:prstGeom prst="line">
            <a:avLst/>
          </a:prstGeom>
          <a:noFill/>
          <a:ln w="17780">
            <a:solidFill>
              <a:srgbClr val="009D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5961888" y="2331720"/>
            <a:ext cx="175564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2860">
            <a:solidFill>
              <a:srgbClr val="0072BC"/>
            </a:solidFill>
            <a:prstDash val="solid"/>
          </a:ln>
          <a:effectLst>
            <a:outerShdw blurRad="12700" dist="50800" dir="2700000" algn="bl" rotWithShape="0">
              <a:srgbClr val="C6D0D9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Text 17"/>
          <p:cNvSpPr/>
          <p:nvPr/>
        </p:nvSpPr>
        <p:spPr>
          <a:xfrm>
            <a:off x="6035040" y="2784348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Evidence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035040" y="309981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Data and analysis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763256" y="3017520"/>
            <a:ext cx="219456" cy="0"/>
          </a:xfrm>
          <a:prstGeom prst="line">
            <a:avLst/>
          </a:prstGeom>
          <a:noFill/>
          <a:ln w="17780">
            <a:solidFill>
              <a:srgbClr val="009D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0"/>
          <p:cNvSpPr/>
          <p:nvPr/>
        </p:nvSpPr>
        <p:spPr>
          <a:xfrm>
            <a:off x="8028432" y="2331720"/>
            <a:ext cx="175564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2700" dist="50800" dir="2700000" algn="bl" rotWithShape="0">
              <a:srgbClr val="C6D0D9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Text 21"/>
          <p:cNvSpPr/>
          <p:nvPr/>
        </p:nvSpPr>
        <p:spPr>
          <a:xfrm>
            <a:off x="8101584" y="2784348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8101584" y="309981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What it means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2011680" y="461772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9" name="Shape 24"/>
          <p:cNvSpPr/>
          <p:nvPr/>
        </p:nvSpPr>
        <p:spPr>
          <a:xfrm>
            <a:off x="2011680" y="4617720"/>
            <a:ext cx="8046720" cy="329184"/>
          </a:xfrm>
          <a:prstGeom prst="rect">
            <a:avLst/>
          </a:prstGeom>
          <a:solidFill>
            <a:srgbClr val="2BAA8E"/>
          </a:solidFill>
          <a:ln w="12700">
            <a:solidFill>
              <a:srgbClr val="2BAA8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5"/>
          <p:cNvSpPr/>
          <p:nvPr/>
        </p:nvSpPr>
        <p:spPr>
          <a:xfrm>
            <a:off x="2084832" y="4672584"/>
            <a:ext cx="7900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Evidence checklist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2139696" y="5056632"/>
            <a:ext cx="7790688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Every claim introduced in the first part of the presentation should be revisited with a figure, table, proof sketch, or experiment in the results section.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35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FFDB13"/>
          </a:solidFill>
          <a:ln w="12700">
            <a:solidFill>
              <a:srgbClr val="FFDB1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mnt/data/ppt_logo_assets/logo_standard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02920"/>
            <a:ext cx="1286382" cy="12863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66560" y="42976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15508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ISISLab</a:t>
            </a:r>
            <a:endParaRPr lang="en-US" sz="3800" dirty="0"/>
          </a:p>
        </p:txBody>
      </p:sp>
      <p:pic>
        <p:nvPicPr>
          <p:cNvPr id="6" name="Image 1" descr="/mnt/data/ppt_logo_assets/topo_so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5640" y="1600200"/>
            <a:ext cx="3413760" cy="2560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4128" y="19202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BAA8E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SECTION 03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005840" y="2770632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Method</a:t>
            </a:r>
            <a:endParaRPr lang="en-US" sz="3800" dirty="0"/>
          </a:p>
        </p:txBody>
      </p:sp>
      <p:sp>
        <p:nvSpPr>
          <p:cNvPr id="9" name="Text 5"/>
          <p:cNvSpPr/>
          <p:nvPr/>
        </p:nvSpPr>
        <p:spPr>
          <a:xfrm>
            <a:off x="1005840" y="41605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DEAF3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Move from intuition to a reproducible algorithm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914400" y="5349240"/>
            <a:ext cx="2560320" cy="0"/>
          </a:xfrm>
          <a:prstGeom prst="line">
            <a:avLst/>
          </a:prstGeom>
          <a:noFill/>
          <a:ln w="27940">
            <a:solidFill>
              <a:srgbClr val="2BAA8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7"/>
          <p:cNvSpPr/>
          <p:nvPr/>
        </p:nvSpPr>
        <p:spPr>
          <a:xfrm>
            <a:off x="7178040" y="5559552"/>
            <a:ext cx="822960" cy="228600"/>
          </a:xfrm>
          <a:prstGeom prst="roundRect">
            <a:avLst>
              <a:gd name="adj" fmla="val 20000"/>
            </a:avLst>
          </a:prstGeom>
          <a:solidFill>
            <a:srgbClr val="2BAA8E"/>
          </a:solidFill>
          <a:ln w="12700">
            <a:solidFill>
              <a:srgbClr val="2BAA8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8"/>
          <p:cNvSpPr/>
          <p:nvPr/>
        </p:nvSpPr>
        <p:spPr>
          <a:xfrm>
            <a:off x="7214616" y="56007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Core idea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8092440" y="55229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DDEAF3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Explain inputs, transformations, assumptions, and outputs.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mnt/data/ppt_logo_assets/logo_standard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4389120" cy="4389120"/>
          </a:xfrm>
          <a:prstGeom prst="rect">
            <a:avLst/>
          </a:prstGeom>
        </p:spPr>
      </p:pic>
      <p:pic>
        <p:nvPicPr>
          <p:cNvPr id="6" name="Image 2" descr="/mnt/data/ppt_logo_assets/topo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5460" y="292608"/>
            <a:ext cx="951052" cy="71329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5488" y="420624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Method pipeline</a:t>
            </a:r>
            <a:endParaRPr lang="en-US" sz="3100" dirty="0"/>
          </a:p>
        </p:txBody>
      </p:sp>
      <p:sp>
        <p:nvSpPr>
          <p:cNvPr id="8" name="Shape 3"/>
          <p:cNvSpPr/>
          <p:nvPr/>
        </p:nvSpPr>
        <p:spPr>
          <a:xfrm>
            <a:off x="475488" y="1005840"/>
            <a:ext cx="11247120" cy="0"/>
          </a:xfrm>
          <a:prstGeom prst="line">
            <a:avLst/>
          </a:prstGeom>
          <a:noFill/>
          <a:ln w="1397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4"/>
          <p:cNvSpPr/>
          <p:nvPr/>
        </p:nvSpPr>
        <p:spPr>
          <a:xfrm>
            <a:off x="73152" y="65653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Research Paper Presentation Template   ·   Method</a:t>
            </a:r>
            <a:endParaRPr lang="en-US" sz="640" dirty="0"/>
          </a:p>
        </p:txBody>
      </p:sp>
      <p:sp>
        <p:nvSpPr>
          <p:cNvPr id="10" name="Text 5"/>
          <p:cNvSpPr/>
          <p:nvPr/>
        </p:nvSpPr>
        <p:spPr>
          <a:xfrm>
            <a:off x="11430000" y="65196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10/31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1920240" y="2148840"/>
            <a:ext cx="18242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2700" dist="50800" dir="2700000" algn="bl" rotWithShape="0">
              <a:srgbClr val="C6D0D9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9"/>
          <p:cNvSpPr/>
          <p:nvPr/>
        </p:nvSpPr>
        <p:spPr>
          <a:xfrm>
            <a:off x="1993392" y="2616556"/>
            <a:ext cx="1677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Input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993392" y="2942539"/>
            <a:ext cx="1677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Raw data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790188" y="2857500"/>
            <a:ext cx="219456" cy="0"/>
          </a:xfrm>
          <a:prstGeom prst="line">
            <a:avLst/>
          </a:prstGeom>
          <a:noFill/>
          <a:ln w="17780">
            <a:solidFill>
              <a:srgbClr val="009D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2"/>
          <p:cNvSpPr/>
          <p:nvPr/>
        </p:nvSpPr>
        <p:spPr>
          <a:xfrm>
            <a:off x="4055364" y="2148840"/>
            <a:ext cx="18242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22860">
            <a:solidFill>
              <a:srgbClr val="0072BC"/>
            </a:solidFill>
            <a:prstDash val="solid"/>
          </a:ln>
          <a:effectLst>
            <a:outerShdw blurRad="12700" dist="50800" dir="2700000" algn="bl" rotWithShape="0">
              <a:srgbClr val="C6D0D9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3"/>
          <p:cNvSpPr/>
          <p:nvPr/>
        </p:nvSpPr>
        <p:spPr>
          <a:xfrm>
            <a:off x="4128516" y="2616556"/>
            <a:ext cx="1677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Model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128516" y="2942539"/>
            <a:ext cx="1677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Proposed method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925312" y="2857500"/>
            <a:ext cx="219456" cy="0"/>
          </a:xfrm>
          <a:prstGeom prst="line">
            <a:avLst/>
          </a:prstGeom>
          <a:noFill/>
          <a:ln w="17780">
            <a:solidFill>
              <a:srgbClr val="009D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6190488" y="2148840"/>
            <a:ext cx="18242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2700" dist="50800" dir="2700000" algn="bl" rotWithShape="0">
              <a:srgbClr val="C6D0D9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Text 17"/>
          <p:cNvSpPr/>
          <p:nvPr/>
        </p:nvSpPr>
        <p:spPr>
          <a:xfrm>
            <a:off x="6263640" y="2616556"/>
            <a:ext cx="1677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263640" y="2942539"/>
            <a:ext cx="1677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Metrics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060436" y="2857500"/>
            <a:ext cx="219456" cy="0"/>
          </a:xfrm>
          <a:prstGeom prst="line">
            <a:avLst/>
          </a:prstGeom>
          <a:noFill/>
          <a:ln w="17780">
            <a:solidFill>
              <a:srgbClr val="009D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0"/>
          <p:cNvSpPr/>
          <p:nvPr/>
        </p:nvSpPr>
        <p:spPr>
          <a:xfrm>
            <a:off x="8325612" y="2148840"/>
            <a:ext cx="18242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2700" dist="50800" dir="2700000" algn="bl" rotWithShape="0">
              <a:srgbClr val="C6D0D9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Text 21"/>
          <p:cNvSpPr/>
          <p:nvPr/>
        </p:nvSpPr>
        <p:spPr>
          <a:xfrm>
            <a:off x="8398764" y="2616556"/>
            <a:ext cx="1677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Release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8398764" y="2942539"/>
            <a:ext cx="1677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Code and data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777240" y="4526280"/>
            <a:ext cx="4800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9" name="Shape 24"/>
          <p:cNvSpPr/>
          <p:nvPr/>
        </p:nvSpPr>
        <p:spPr>
          <a:xfrm>
            <a:off x="777240" y="4526280"/>
            <a:ext cx="4800600" cy="329184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5"/>
          <p:cNvSpPr/>
          <p:nvPr/>
        </p:nvSpPr>
        <p:spPr>
          <a:xfrm>
            <a:off x="850392" y="4581144"/>
            <a:ext cx="4654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Design principle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905256" y="4965192"/>
            <a:ext cx="4544568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Separate the core idea from implementation details. Show the intuition first, then the formal or algorithmic specification.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6400800" y="4526280"/>
            <a:ext cx="4526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3" name="Shape 28"/>
          <p:cNvSpPr/>
          <p:nvPr/>
        </p:nvSpPr>
        <p:spPr>
          <a:xfrm>
            <a:off x="6400800" y="4526280"/>
            <a:ext cx="4526280" cy="329184"/>
          </a:xfrm>
          <a:prstGeom prst="rect">
            <a:avLst/>
          </a:prstGeom>
          <a:solidFill>
            <a:srgbClr val="DF242B"/>
          </a:solidFill>
          <a:ln w="12700">
            <a:solidFill>
              <a:srgbClr val="DF2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29"/>
          <p:cNvSpPr/>
          <p:nvPr/>
        </p:nvSpPr>
        <p:spPr>
          <a:xfrm>
            <a:off x="6473952" y="4581144"/>
            <a:ext cx="4379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Method slide rule</a:t>
            </a:r>
            <a:endParaRPr lang="en-US" sz="1050" dirty="0"/>
          </a:p>
        </p:txBody>
      </p:sp>
      <p:sp>
        <p:nvSpPr>
          <p:cNvPr id="35" name="Text 30"/>
          <p:cNvSpPr/>
          <p:nvPr/>
        </p:nvSpPr>
        <p:spPr>
          <a:xfrm>
            <a:off x="6528816" y="4965192"/>
            <a:ext cx="4270248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One pipeline slide should explain how data becomes evidence. Later slides can zoom into each module.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mnt/data/ppt_logo_assets/logo_standard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4389120" cy="4389120"/>
          </a:xfrm>
          <a:prstGeom prst="rect">
            <a:avLst/>
          </a:prstGeom>
        </p:spPr>
      </p:pic>
      <p:pic>
        <p:nvPicPr>
          <p:cNvPr id="6" name="Image 2" descr="/mnt/data/ppt_logo_assets/topo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5459" y="292608"/>
            <a:ext cx="951053" cy="71329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5488" y="420624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Algorithmic components</a:t>
            </a:r>
            <a:endParaRPr lang="en-US" sz="3100" dirty="0"/>
          </a:p>
        </p:txBody>
      </p:sp>
      <p:sp>
        <p:nvSpPr>
          <p:cNvPr id="8" name="Shape 3"/>
          <p:cNvSpPr/>
          <p:nvPr/>
        </p:nvSpPr>
        <p:spPr>
          <a:xfrm>
            <a:off x="475488" y="1005840"/>
            <a:ext cx="11247120" cy="0"/>
          </a:xfrm>
          <a:prstGeom prst="line">
            <a:avLst/>
          </a:prstGeom>
          <a:noFill/>
          <a:ln w="1397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4"/>
          <p:cNvSpPr/>
          <p:nvPr/>
        </p:nvSpPr>
        <p:spPr>
          <a:xfrm>
            <a:off x="73152" y="65653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Research Paper Presentation Template   ·   Method</a:t>
            </a:r>
            <a:endParaRPr lang="en-US" sz="640" dirty="0"/>
          </a:p>
        </p:txBody>
      </p:sp>
      <p:sp>
        <p:nvSpPr>
          <p:cNvPr id="10" name="Text 5"/>
          <p:cNvSpPr/>
          <p:nvPr/>
        </p:nvSpPr>
        <p:spPr>
          <a:xfrm>
            <a:off x="11430000" y="65196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11/31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777240" y="2148840"/>
            <a:ext cx="31546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9"/>
          <p:cNvSpPr/>
          <p:nvPr/>
        </p:nvSpPr>
        <p:spPr>
          <a:xfrm>
            <a:off x="777240" y="2148840"/>
            <a:ext cx="3154680" cy="329184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0"/>
          <p:cNvSpPr/>
          <p:nvPr/>
        </p:nvSpPr>
        <p:spPr>
          <a:xfrm>
            <a:off x="850392" y="2203704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Step 1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905256" y="2587752"/>
            <a:ext cx="2898648" cy="950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Represent each instance with stable and shift-sensitive features.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343400" y="2148840"/>
            <a:ext cx="31546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3"/>
          <p:cNvSpPr/>
          <p:nvPr/>
        </p:nvSpPr>
        <p:spPr>
          <a:xfrm>
            <a:off x="4343400" y="2148840"/>
            <a:ext cx="3154680" cy="329184"/>
          </a:xfrm>
          <a:prstGeom prst="rect">
            <a:avLst/>
          </a:prstGeom>
          <a:solidFill>
            <a:srgbClr val="42A5D5"/>
          </a:solidFill>
          <a:ln w="12700">
            <a:solidFill>
              <a:srgbClr val="42A5D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4"/>
          <p:cNvSpPr/>
          <p:nvPr/>
        </p:nvSpPr>
        <p:spPr>
          <a:xfrm>
            <a:off x="4416552" y="2203704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Step 2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471416" y="2587752"/>
            <a:ext cx="2898648" cy="950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Optimize a robust objective that penalizes unstable shortcuts.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7909560" y="2148840"/>
            <a:ext cx="31546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17"/>
          <p:cNvSpPr/>
          <p:nvPr/>
        </p:nvSpPr>
        <p:spPr>
          <a:xfrm>
            <a:off x="7909560" y="2148840"/>
            <a:ext cx="3154680" cy="329184"/>
          </a:xfrm>
          <a:prstGeom prst="rect">
            <a:avLst/>
          </a:prstGeom>
          <a:solidFill>
            <a:srgbClr val="011BFE"/>
          </a:solidFill>
          <a:ln w="12700">
            <a:solidFill>
              <a:srgbClr val="011B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18"/>
          <p:cNvSpPr/>
          <p:nvPr/>
        </p:nvSpPr>
        <p:spPr>
          <a:xfrm>
            <a:off x="7982712" y="2203704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Step 3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8037576" y="2587752"/>
            <a:ext cx="2898648" cy="9509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Explain decisions with component-level attribution.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777240" y="4224528"/>
            <a:ext cx="10287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1"/>
          <p:cNvSpPr/>
          <p:nvPr/>
        </p:nvSpPr>
        <p:spPr>
          <a:xfrm>
            <a:off x="777240" y="4224528"/>
            <a:ext cx="10287000" cy="329184"/>
          </a:xfrm>
          <a:prstGeom prst="rect">
            <a:avLst/>
          </a:prstGeom>
          <a:solidFill>
            <a:srgbClr val="DF242B"/>
          </a:solidFill>
          <a:ln w="12700">
            <a:solidFill>
              <a:srgbClr val="DF2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2"/>
          <p:cNvSpPr/>
          <p:nvPr/>
        </p:nvSpPr>
        <p:spPr>
          <a:xfrm>
            <a:off x="850392" y="4279392"/>
            <a:ext cx="10140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Take-home message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905256" y="4663440"/>
            <a:ext cx="10030968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The method is designed to preserve performance when the test environment differs from the training environment.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35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FFDB13"/>
          </a:solidFill>
          <a:ln w="12700">
            <a:solidFill>
              <a:srgbClr val="FFDB1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mnt/data/ppt_logo_assets/logo_standard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" y="502919"/>
            <a:ext cx="1210967" cy="1210967"/>
          </a:xfrm>
          <a:prstGeom prst="rect">
            <a:avLst/>
          </a:prstGeom>
        </p:spPr>
      </p:pic>
      <p:pic>
        <p:nvPicPr>
          <p:cNvPr id="6" name="Image 1" descr="/mnt/data/ppt_logo_assets/topo_so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5640" y="1600200"/>
            <a:ext cx="3413760" cy="2560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4128" y="19202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655A4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SECTION 04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005840" y="2770632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Experimental Design</a:t>
            </a:r>
            <a:endParaRPr lang="en-US" sz="3800" dirty="0"/>
          </a:p>
        </p:txBody>
      </p:sp>
      <p:sp>
        <p:nvSpPr>
          <p:cNvPr id="9" name="Text 5"/>
          <p:cNvSpPr/>
          <p:nvPr/>
        </p:nvSpPr>
        <p:spPr>
          <a:xfrm>
            <a:off x="1005840" y="41605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DEAF3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Make the evidence credible before showing the results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914400" y="5349240"/>
            <a:ext cx="2560320" cy="0"/>
          </a:xfrm>
          <a:prstGeom prst="line">
            <a:avLst/>
          </a:prstGeom>
          <a:noFill/>
          <a:ln w="27940">
            <a:solidFill>
              <a:srgbClr val="6655A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7"/>
          <p:cNvSpPr/>
          <p:nvPr/>
        </p:nvSpPr>
        <p:spPr>
          <a:xfrm>
            <a:off x="7178040" y="5559552"/>
            <a:ext cx="822960" cy="228600"/>
          </a:xfrm>
          <a:prstGeom prst="roundRect">
            <a:avLst>
              <a:gd name="adj" fmla="val 20000"/>
            </a:avLst>
          </a:prstGeom>
          <a:solidFill>
            <a:srgbClr val="6655A4"/>
          </a:solidFill>
          <a:ln w="12700">
            <a:solidFill>
              <a:srgbClr val="6655A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8"/>
          <p:cNvSpPr/>
          <p:nvPr/>
        </p:nvSpPr>
        <p:spPr>
          <a:xfrm>
            <a:off x="7214616" y="56007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Protocol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8092440" y="55229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DDEAF3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Specify data, baselines, metrics, controls, and reproducibility.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mnt/data/ppt_logo_assets/logo_standard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4389120" cy="4389120"/>
          </a:xfrm>
          <a:prstGeom prst="rect">
            <a:avLst/>
          </a:prstGeom>
        </p:spPr>
      </p:pic>
      <p:pic>
        <p:nvPicPr>
          <p:cNvPr id="6" name="Image 2" descr="/mnt/data/ppt_logo_assets/topo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5460" y="292608"/>
            <a:ext cx="951052" cy="71329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5488" y="420624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Experimental design</a:t>
            </a:r>
            <a:endParaRPr lang="en-US" sz="3100" dirty="0"/>
          </a:p>
        </p:txBody>
      </p:sp>
      <p:sp>
        <p:nvSpPr>
          <p:cNvPr id="8" name="Shape 3"/>
          <p:cNvSpPr/>
          <p:nvPr/>
        </p:nvSpPr>
        <p:spPr>
          <a:xfrm>
            <a:off x="475488" y="1005840"/>
            <a:ext cx="11247120" cy="0"/>
          </a:xfrm>
          <a:prstGeom prst="line">
            <a:avLst/>
          </a:prstGeom>
          <a:noFill/>
          <a:ln w="1397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4"/>
          <p:cNvSpPr/>
          <p:nvPr/>
        </p:nvSpPr>
        <p:spPr>
          <a:xfrm>
            <a:off x="73152" y="65653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Research Paper Presentation Template   ·   Experimental Design</a:t>
            </a:r>
            <a:endParaRPr lang="en-US" sz="640" dirty="0"/>
          </a:p>
        </p:txBody>
      </p:sp>
      <p:sp>
        <p:nvSpPr>
          <p:cNvPr id="10" name="Text 5"/>
          <p:cNvSpPr/>
          <p:nvPr/>
        </p:nvSpPr>
        <p:spPr>
          <a:xfrm>
            <a:off x="11430000" y="65196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13/31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777240" y="1920240"/>
            <a:ext cx="48006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9"/>
          <p:cNvSpPr/>
          <p:nvPr/>
        </p:nvSpPr>
        <p:spPr>
          <a:xfrm>
            <a:off x="777240" y="1920240"/>
            <a:ext cx="4800600" cy="329184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0"/>
          <p:cNvSpPr/>
          <p:nvPr/>
        </p:nvSpPr>
        <p:spPr>
          <a:xfrm>
            <a:off x="850392" y="1975104"/>
            <a:ext cx="4654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Evaluation matrix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960120" y="2468880"/>
            <a:ext cx="292608" cy="292608"/>
          </a:xfrm>
          <a:prstGeom prst="ellipse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2"/>
          <p:cNvSpPr/>
          <p:nvPr/>
        </p:nvSpPr>
        <p:spPr>
          <a:xfrm>
            <a:off x="960120" y="252374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399032" y="24871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Three datasets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60120" y="3063240"/>
            <a:ext cx="292608" cy="292608"/>
          </a:xfrm>
          <a:prstGeom prst="ellipse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5"/>
          <p:cNvSpPr/>
          <p:nvPr/>
        </p:nvSpPr>
        <p:spPr>
          <a:xfrm>
            <a:off x="960120" y="311810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399032" y="30815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Two distribution shifts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960120" y="3657600"/>
            <a:ext cx="292608" cy="292608"/>
          </a:xfrm>
          <a:prstGeom prst="ellipse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18"/>
          <p:cNvSpPr/>
          <p:nvPr/>
        </p:nvSpPr>
        <p:spPr>
          <a:xfrm>
            <a:off x="960120" y="371246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399032" y="3675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Accuracy and robustness metrics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960120" y="4251960"/>
            <a:ext cx="292608" cy="292608"/>
          </a:xfrm>
          <a:prstGeom prst="ellipse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1"/>
          <p:cNvSpPr/>
          <p:nvPr/>
        </p:nvSpPr>
        <p:spPr>
          <a:xfrm>
            <a:off x="960120" y="430682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1399032" y="42702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Runtime and calibration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217920" y="192024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9" name="Shape 24"/>
          <p:cNvSpPr/>
          <p:nvPr/>
        </p:nvSpPr>
        <p:spPr>
          <a:xfrm>
            <a:off x="6217920" y="1920240"/>
            <a:ext cx="4846320" cy="329184"/>
          </a:xfrm>
          <a:prstGeom prst="rect">
            <a:avLst/>
          </a:prstGeom>
          <a:solidFill>
            <a:srgbClr val="2BAA8E"/>
          </a:solidFill>
          <a:ln w="12700">
            <a:solidFill>
              <a:srgbClr val="2BAA8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5"/>
          <p:cNvSpPr/>
          <p:nvPr/>
        </p:nvSpPr>
        <p:spPr>
          <a:xfrm>
            <a:off x="6291072" y="1975104"/>
            <a:ext cx="4700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Protocol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6345936" y="2359152"/>
            <a:ext cx="4590288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Use the same train, validation, and test partitions for every baseline. Report average and variance across repeated runs.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6217920" y="388620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009DD0">
                <a:alpha val="75000"/>
              </a:srgbClr>
            </a:solidFill>
            <a:prstDash val="solid"/>
          </a:ln>
          <a:effectLst>
            <a:outerShdw blurRad="12700" dist="50800" dir="2700000" algn="bl" rotWithShape="0">
              <a:srgbClr val="C8D2DA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3" name="Text 28"/>
          <p:cNvSpPr/>
          <p:nvPr/>
        </p:nvSpPr>
        <p:spPr>
          <a:xfrm>
            <a:off x="6217920" y="4050792"/>
            <a:ext cx="23317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9DD0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3</a:t>
            </a:r>
            <a:endParaRPr lang="en-US" sz="2800" dirty="0"/>
          </a:p>
        </p:txBody>
      </p:sp>
      <p:sp>
        <p:nvSpPr>
          <p:cNvPr id="34" name="Text 29"/>
          <p:cNvSpPr/>
          <p:nvPr/>
        </p:nvSpPr>
        <p:spPr>
          <a:xfrm>
            <a:off x="6309360" y="4663897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datasets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8732520" y="388620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2BAA8E">
                <a:alpha val="75000"/>
              </a:srgbClr>
            </a:solidFill>
            <a:prstDash val="solid"/>
          </a:ln>
          <a:effectLst>
            <a:outerShdw blurRad="12700" dist="50800" dir="2700000" algn="bl" rotWithShape="0">
              <a:srgbClr val="C8D2DA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6" name="Text 31"/>
          <p:cNvSpPr/>
          <p:nvPr/>
        </p:nvSpPr>
        <p:spPr>
          <a:xfrm>
            <a:off x="8732520" y="4050792"/>
            <a:ext cx="23317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BAA8E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5</a:t>
            </a:r>
            <a:endParaRPr lang="en-US" sz="2800" dirty="0"/>
          </a:p>
        </p:txBody>
      </p:sp>
      <p:sp>
        <p:nvSpPr>
          <p:cNvPr id="37" name="Text 32"/>
          <p:cNvSpPr/>
          <p:nvPr/>
        </p:nvSpPr>
        <p:spPr>
          <a:xfrm>
            <a:off x="8823960" y="4663897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baselines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mnt/data/ppt_logo_assets/logo_standard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4389120" cy="4389120"/>
          </a:xfrm>
          <a:prstGeom prst="rect">
            <a:avLst/>
          </a:prstGeom>
        </p:spPr>
      </p:pic>
      <p:pic>
        <p:nvPicPr>
          <p:cNvPr id="6" name="Image 2" descr="/mnt/data/ppt_logo_assets/topo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5460" y="292608"/>
            <a:ext cx="951052" cy="71329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5488" y="420624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Reproducibility package</a:t>
            </a:r>
            <a:endParaRPr lang="en-US" sz="3100" dirty="0"/>
          </a:p>
        </p:txBody>
      </p:sp>
      <p:sp>
        <p:nvSpPr>
          <p:cNvPr id="8" name="Shape 3"/>
          <p:cNvSpPr/>
          <p:nvPr/>
        </p:nvSpPr>
        <p:spPr>
          <a:xfrm>
            <a:off x="475488" y="1005840"/>
            <a:ext cx="11247120" cy="0"/>
          </a:xfrm>
          <a:prstGeom prst="line">
            <a:avLst/>
          </a:prstGeom>
          <a:noFill/>
          <a:ln w="1397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4"/>
          <p:cNvSpPr/>
          <p:nvPr/>
        </p:nvSpPr>
        <p:spPr>
          <a:xfrm>
            <a:off x="73152" y="65653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Research Paper Presentation Template   ·   Experimental Design</a:t>
            </a:r>
            <a:endParaRPr lang="en-US" sz="640" dirty="0"/>
          </a:p>
        </p:txBody>
      </p:sp>
      <p:sp>
        <p:nvSpPr>
          <p:cNvPr id="10" name="Text 5"/>
          <p:cNvSpPr/>
          <p:nvPr/>
        </p:nvSpPr>
        <p:spPr>
          <a:xfrm>
            <a:off x="11430000" y="65196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14/31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1920240" y="2331720"/>
            <a:ext cx="18242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2700" dist="50800" dir="2700000" algn="bl" rotWithShape="0">
              <a:srgbClr val="C6D0D9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9"/>
          <p:cNvSpPr/>
          <p:nvPr/>
        </p:nvSpPr>
        <p:spPr>
          <a:xfrm>
            <a:off x="1993392" y="2799436"/>
            <a:ext cx="1677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Data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993392" y="3125419"/>
            <a:ext cx="1677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Splits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790188" y="3040380"/>
            <a:ext cx="219456" cy="0"/>
          </a:xfrm>
          <a:prstGeom prst="line">
            <a:avLst/>
          </a:prstGeom>
          <a:noFill/>
          <a:ln w="17780">
            <a:solidFill>
              <a:srgbClr val="009D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2"/>
          <p:cNvSpPr/>
          <p:nvPr/>
        </p:nvSpPr>
        <p:spPr>
          <a:xfrm>
            <a:off x="4055364" y="2331720"/>
            <a:ext cx="18242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2700" dist="50800" dir="2700000" algn="bl" rotWithShape="0">
              <a:srgbClr val="C6D0D9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3"/>
          <p:cNvSpPr/>
          <p:nvPr/>
        </p:nvSpPr>
        <p:spPr>
          <a:xfrm>
            <a:off x="4128516" y="2799436"/>
            <a:ext cx="1677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Code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128516" y="3125419"/>
            <a:ext cx="1677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Scripts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925312" y="3040380"/>
            <a:ext cx="219456" cy="0"/>
          </a:xfrm>
          <a:prstGeom prst="line">
            <a:avLst/>
          </a:prstGeom>
          <a:noFill/>
          <a:ln w="17780">
            <a:solidFill>
              <a:srgbClr val="009D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6190488" y="2331720"/>
            <a:ext cx="18242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2700" dist="50800" dir="2700000" algn="bl" rotWithShape="0">
              <a:srgbClr val="C6D0D9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Text 17"/>
          <p:cNvSpPr/>
          <p:nvPr/>
        </p:nvSpPr>
        <p:spPr>
          <a:xfrm>
            <a:off x="6263640" y="2799436"/>
            <a:ext cx="1677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Models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263640" y="3125419"/>
            <a:ext cx="1677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Checkpoints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060436" y="3040380"/>
            <a:ext cx="219456" cy="0"/>
          </a:xfrm>
          <a:prstGeom prst="line">
            <a:avLst/>
          </a:prstGeom>
          <a:noFill/>
          <a:ln w="17780">
            <a:solidFill>
              <a:srgbClr val="009D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0"/>
          <p:cNvSpPr/>
          <p:nvPr/>
        </p:nvSpPr>
        <p:spPr>
          <a:xfrm>
            <a:off x="8325612" y="2331720"/>
            <a:ext cx="18242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22860">
            <a:solidFill>
              <a:srgbClr val="0072BC"/>
            </a:solidFill>
            <a:prstDash val="solid"/>
          </a:ln>
          <a:effectLst>
            <a:outerShdw blurRad="12700" dist="50800" dir="2700000" algn="bl" rotWithShape="0">
              <a:srgbClr val="C6D0D9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Text 21"/>
          <p:cNvSpPr/>
          <p:nvPr/>
        </p:nvSpPr>
        <p:spPr>
          <a:xfrm>
            <a:off x="8398764" y="2799436"/>
            <a:ext cx="1677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Report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8398764" y="3125419"/>
            <a:ext cx="1677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Figures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1920240" y="45720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9" name="Shape 24"/>
          <p:cNvSpPr/>
          <p:nvPr/>
        </p:nvSpPr>
        <p:spPr>
          <a:xfrm>
            <a:off x="1920240" y="4572000"/>
            <a:ext cx="8229600" cy="329184"/>
          </a:xfrm>
          <a:prstGeom prst="rect">
            <a:avLst/>
          </a:prstGeom>
          <a:solidFill>
            <a:srgbClr val="6655A4"/>
          </a:solidFill>
          <a:ln w="12700">
            <a:solidFill>
              <a:srgbClr val="6655A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5"/>
          <p:cNvSpPr/>
          <p:nvPr/>
        </p:nvSpPr>
        <p:spPr>
          <a:xfrm>
            <a:off x="1993392" y="4626864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Artifact policy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2048256" y="5010912"/>
            <a:ext cx="7973568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Make the presentation point to the same artifacts as the paper: repository, data card, environment file, and evaluation scripts.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35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FFDB13"/>
          </a:solidFill>
          <a:ln w="12700">
            <a:solidFill>
              <a:srgbClr val="FFDB1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mnt/data/ppt_logo_assets/logo_standard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02920"/>
            <a:ext cx="1314662" cy="13146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66560" y="42976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15508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ISISLab</a:t>
            </a:r>
            <a:endParaRPr lang="en-US" sz="3800" dirty="0"/>
          </a:p>
        </p:txBody>
      </p:sp>
      <p:pic>
        <p:nvPicPr>
          <p:cNvPr id="6" name="Image 1" descr="/mnt/data/ppt_logo_assets/topo_so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5640" y="1600200"/>
            <a:ext cx="3413760" cy="2560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4128" y="19202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F242B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SECTION 05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005840" y="2770632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Results</a:t>
            </a:r>
            <a:endParaRPr lang="en-US" sz="3800" dirty="0"/>
          </a:p>
        </p:txBody>
      </p:sp>
      <p:sp>
        <p:nvSpPr>
          <p:cNvPr id="9" name="Text 5"/>
          <p:cNvSpPr/>
          <p:nvPr/>
        </p:nvSpPr>
        <p:spPr>
          <a:xfrm>
            <a:off x="1005840" y="41605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DEAF3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Lead with the main finding, then test why it holds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914400" y="5349240"/>
            <a:ext cx="2560320" cy="0"/>
          </a:xfrm>
          <a:prstGeom prst="line">
            <a:avLst/>
          </a:prstGeom>
          <a:noFill/>
          <a:ln w="27940">
            <a:solidFill>
              <a:srgbClr val="DF2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7"/>
          <p:cNvSpPr/>
          <p:nvPr/>
        </p:nvSpPr>
        <p:spPr>
          <a:xfrm>
            <a:off x="7178040" y="5559552"/>
            <a:ext cx="822960" cy="228600"/>
          </a:xfrm>
          <a:prstGeom prst="roundRect">
            <a:avLst>
              <a:gd name="adj" fmla="val 20000"/>
            </a:avLst>
          </a:prstGeom>
          <a:solidFill>
            <a:srgbClr val="DF242B"/>
          </a:solidFill>
          <a:ln w="12700">
            <a:solidFill>
              <a:srgbClr val="DF2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8"/>
          <p:cNvSpPr/>
          <p:nvPr/>
        </p:nvSpPr>
        <p:spPr>
          <a:xfrm>
            <a:off x="7214616" y="56007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Evidence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8092440" y="55229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DDEAF3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Main result, ablation, uncertainty, and failure cases.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mnt/data/ppt_logo_assets/logo_standard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4389120" cy="4389120"/>
          </a:xfrm>
          <a:prstGeom prst="rect">
            <a:avLst/>
          </a:prstGeom>
        </p:spPr>
      </p:pic>
      <p:pic>
        <p:nvPicPr>
          <p:cNvPr id="5" name="Image 1" descr="/mnt/data/ppt_logo_assets/topo_water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645920"/>
            <a:ext cx="4754880" cy="3566160"/>
          </a:xfrm>
          <a:prstGeom prst="rect">
            <a:avLst/>
          </a:prstGeom>
        </p:spPr>
      </p:pic>
      <p:pic>
        <p:nvPicPr>
          <p:cNvPr id="6" name="Image 2" descr="/mnt/data/ppt_logo_assets/topo(1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5460" y="292608"/>
            <a:ext cx="951052" cy="71329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5488" y="420624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Main result: robustness improves</a:t>
            </a:r>
            <a:endParaRPr lang="en-US" sz="3100" dirty="0"/>
          </a:p>
        </p:txBody>
      </p:sp>
      <p:sp>
        <p:nvSpPr>
          <p:cNvPr id="8" name="Shape 3"/>
          <p:cNvSpPr/>
          <p:nvPr/>
        </p:nvSpPr>
        <p:spPr>
          <a:xfrm>
            <a:off x="475488" y="1005840"/>
            <a:ext cx="11247120" cy="0"/>
          </a:xfrm>
          <a:prstGeom prst="line">
            <a:avLst/>
          </a:prstGeom>
          <a:noFill/>
          <a:ln w="1397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4"/>
          <p:cNvSpPr/>
          <p:nvPr/>
        </p:nvSpPr>
        <p:spPr>
          <a:xfrm>
            <a:off x="73152" y="65653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Research Paper Presentation Template   ·   Results</a:t>
            </a:r>
            <a:endParaRPr lang="en-US" sz="640" dirty="0"/>
          </a:p>
        </p:txBody>
      </p:sp>
      <p:sp>
        <p:nvSpPr>
          <p:cNvPr id="10" name="Text 5"/>
          <p:cNvSpPr/>
          <p:nvPr/>
        </p:nvSpPr>
        <p:spPr>
          <a:xfrm>
            <a:off x="11430000" y="65196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16/31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777240" y="1874520"/>
            <a:ext cx="34290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5240">
            <a:solidFill>
              <a:srgbClr val="009DD0">
                <a:alpha val="75000"/>
              </a:srgbClr>
            </a:solidFill>
            <a:prstDash val="solid"/>
          </a:ln>
          <a:effectLst>
            <a:outerShdw blurRad="12700" dist="50800" dir="2700000" algn="bl" rotWithShape="0">
              <a:srgbClr val="C8D2DA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9"/>
          <p:cNvSpPr/>
          <p:nvPr/>
        </p:nvSpPr>
        <p:spPr>
          <a:xfrm>
            <a:off x="777240" y="2039112"/>
            <a:ext cx="3429000" cy="493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9DD0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+18%</a:t>
            </a:r>
            <a:endParaRPr lang="en-US" sz="2800" dirty="0"/>
          </a:p>
        </p:txBody>
      </p:sp>
      <p:sp>
        <p:nvSpPr>
          <p:cNvPr id="15" name="Text 10"/>
          <p:cNvSpPr/>
          <p:nvPr/>
        </p:nvSpPr>
        <p:spPr>
          <a:xfrm>
            <a:off x="868680" y="2692542"/>
            <a:ext cx="3246120" cy="2596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relative robustness gain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77240" y="3657600"/>
            <a:ext cx="34290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5240">
            <a:solidFill>
              <a:srgbClr val="DF242B">
                <a:alpha val="75000"/>
              </a:srgbClr>
            </a:solidFill>
            <a:prstDash val="solid"/>
          </a:ln>
          <a:effectLst>
            <a:outerShdw blurRad="12700" dist="50800" dir="2700000" algn="bl" rotWithShape="0">
              <a:srgbClr val="C8D2DA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2"/>
          <p:cNvSpPr/>
          <p:nvPr/>
        </p:nvSpPr>
        <p:spPr>
          <a:xfrm>
            <a:off x="777240" y="3822192"/>
            <a:ext cx="3429000" cy="493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F242B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42 ms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868680" y="4475622"/>
            <a:ext cx="3246120" cy="2596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median latency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800600" y="1691640"/>
            <a:ext cx="63093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5"/>
          <p:cNvSpPr/>
          <p:nvPr/>
        </p:nvSpPr>
        <p:spPr>
          <a:xfrm>
            <a:off x="4800600" y="1691640"/>
            <a:ext cx="6309360" cy="329184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6"/>
          <p:cNvSpPr/>
          <p:nvPr/>
        </p:nvSpPr>
        <p:spPr>
          <a:xfrm>
            <a:off x="4873752" y="174650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Demo bar chart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394960" y="4709160"/>
            <a:ext cx="5120640" cy="0"/>
          </a:xfrm>
          <a:prstGeom prst="line">
            <a:avLst/>
          </a:prstGeom>
          <a:noFill/>
          <a:ln w="1270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18"/>
          <p:cNvSpPr/>
          <p:nvPr/>
        </p:nvSpPr>
        <p:spPr>
          <a:xfrm>
            <a:off x="6254496" y="3342635"/>
            <a:ext cx="475488" cy="1366525"/>
          </a:xfrm>
          <a:prstGeom prst="roundRect">
            <a:avLst>
              <a:gd name="adj" fmla="val 15385"/>
            </a:avLst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19"/>
          <p:cNvSpPr/>
          <p:nvPr/>
        </p:nvSpPr>
        <p:spPr>
          <a:xfrm>
            <a:off x="6254496" y="2388413"/>
            <a:ext cx="475488" cy="1925726"/>
          </a:xfrm>
          <a:prstGeom prst="roundRect">
            <a:avLst>
              <a:gd name="adj" fmla="val 15385"/>
            </a:avLst>
          </a:prstGeom>
          <a:solidFill>
            <a:srgbClr val="CDEDF5"/>
          </a:solidFill>
          <a:ln w="12700">
            <a:solidFill>
              <a:srgbClr val="CDED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0"/>
          <p:cNvSpPr/>
          <p:nvPr/>
        </p:nvSpPr>
        <p:spPr>
          <a:xfrm>
            <a:off x="6254496" y="3342635"/>
            <a:ext cx="475488" cy="1366525"/>
          </a:xfrm>
          <a:prstGeom prst="roundRect">
            <a:avLst>
              <a:gd name="adj" fmla="val 15385"/>
            </a:avLst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1"/>
          <p:cNvSpPr/>
          <p:nvPr/>
        </p:nvSpPr>
        <p:spPr>
          <a:xfrm>
            <a:off x="6208776" y="3114035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9DD0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54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144768" y="4846320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Base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7717536" y="3165493"/>
            <a:ext cx="475488" cy="1543667"/>
          </a:xfrm>
          <a:prstGeom prst="roundRect">
            <a:avLst>
              <a:gd name="adj" fmla="val 15385"/>
            </a:avLst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4"/>
          <p:cNvSpPr/>
          <p:nvPr/>
        </p:nvSpPr>
        <p:spPr>
          <a:xfrm>
            <a:off x="7717536" y="2388413"/>
            <a:ext cx="475488" cy="1925726"/>
          </a:xfrm>
          <a:prstGeom prst="roundRect">
            <a:avLst>
              <a:gd name="adj" fmla="val 15385"/>
            </a:avLst>
          </a:prstGeom>
          <a:solidFill>
            <a:srgbClr val="CDEDF5"/>
          </a:solidFill>
          <a:ln w="12700">
            <a:solidFill>
              <a:srgbClr val="CDED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Shape 25"/>
          <p:cNvSpPr/>
          <p:nvPr/>
        </p:nvSpPr>
        <p:spPr>
          <a:xfrm>
            <a:off x="7717536" y="3165493"/>
            <a:ext cx="475488" cy="1543667"/>
          </a:xfrm>
          <a:prstGeom prst="roundRect">
            <a:avLst>
              <a:gd name="adj" fmla="val 15385"/>
            </a:avLst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6"/>
          <p:cNvSpPr/>
          <p:nvPr/>
        </p:nvSpPr>
        <p:spPr>
          <a:xfrm>
            <a:off x="7671816" y="2936893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9DD0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61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7607808" y="4846320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Aug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9180576" y="2887127"/>
            <a:ext cx="475488" cy="1822033"/>
          </a:xfrm>
          <a:prstGeom prst="roundRect">
            <a:avLst>
              <a:gd name="adj" fmla="val 15385"/>
            </a:avLst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Shape 29"/>
          <p:cNvSpPr/>
          <p:nvPr/>
        </p:nvSpPr>
        <p:spPr>
          <a:xfrm>
            <a:off x="9180576" y="2388413"/>
            <a:ext cx="475488" cy="1925726"/>
          </a:xfrm>
          <a:prstGeom prst="roundRect">
            <a:avLst>
              <a:gd name="adj" fmla="val 15385"/>
            </a:avLst>
          </a:prstGeom>
          <a:solidFill>
            <a:srgbClr val="CDEDF5"/>
          </a:solidFill>
          <a:ln w="12700">
            <a:solidFill>
              <a:srgbClr val="CDED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Shape 30"/>
          <p:cNvSpPr/>
          <p:nvPr/>
        </p:nvSpPr>
        <p:spPr>
          <a:xfrm>
            <a:off x="9180576" y="2887127"/>
            <a:ext cx="475488" cy="1822033"/>
          </a:xfrm>
          <a:prstGeom prst="roundRect">
            <a:avLst>
              <a:gd name="adj" fmla="val 15385"/>
            </a:avLst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1"/>
          <p:cNvSpPr/>
          <p:nvPr/>
        </p:nvSpPr>
        <p:spPr>
          <a:xfrm>
            <a:off x="9134856" y="2658527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9DD0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72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9070848" y="4846320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Ours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5074920" y="53492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Accuracy under shift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mnt/data/ppt_logo_assets/logo_standard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4389120" cy="4389120"/>
          </a:xfrm>
          <a:prstGeom prst="rect">
            <a:avLst/>
          </a:prstGeom>
        </p:spPr>
      </p:pic>
      <p:pic>
        <p:nvPicPr>
          <p:cNvPr id="6" name="Image 2" descr="/mnt/data/ppt_logo_assets/topo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5460" y="292608"/>
            <a:ext cx="951052" cy="71329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5488" y="420624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Ablation and training dynamics</a:t>
            </a:r>
            <a:endParaRPr lang="en-US" sz="3100" dirty="0"/>
          </a:p>
        </p:txBody>
      </p:sp>
      <p:sp>
        <p:nvSpPr>
          <p:cNvPr id="8" name="Shape 3"/>
          <p:cNvSpPr/>
          <p:nvPr/>
        </p:nvSpPr>
        <p:spPr>
          <a:xfrm>
            <a:off x="475488" y="1005840"/>
            <a:ext cx="11247120" cy="0"/>
          </a:xfrm>
          <a:prstGeom prst="line">
            <a:avLst/>
          </a:prstGeom>
          <a:noFill/>
          <a:ln w="1397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4"/>
          <p:cNvSpPr/>
          <p:nvPr/>
        </p:nvSpPr>
        <p:spPr>
          <a:xfrm>
            <a:off x="73152" y="65653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Research Paper Presentation Template   ·   Results</a:t>
            </a:r>
            <a:endParaRPr lang="en-US" sz="640" dirty="0"/>
          </a:p>
        </p:txBody>
      </p:sp>
      <p:sp>
        <p:nvSpPr>
          <p:cNvPr id="10" name="Text 5"/>
          <p:cNvSpPr/>
          <p:nvPr/>
        </p:nvSpPr>
        <p:spPr>
          <a:xfrm>
            <a:off x="11430000" y="65196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17/31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777240" y="1737360"/>
            <a:ext cx="49834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9"/>
          <p:cNvSpPr/>
          <p:nvPr/>
        </p:nvSpPr>
        <p:spPr>
          <a:xfrm>
            <a:off x="777240" y="1737360"/>
            <a:ext cx="4983480" cy="329184"/>
          </a:xfrm>
          <a:prstGeom prst="rect">
            <a:avLst/>
          </a:prstGeom>
          <a:solidFill>
            <a:srgbClr val="2BAA8E"/>
          </a:solidFill>
          <a:ln w="12700">
            <a:solidFill>
              <a:srgbClr val="2BAA8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0"/>
          <p:cNvSpPr/>
          <p:nvPr/>
        </p:nvSpPr>
        <p:spPr>
          <a:xfrm>
            <a:off x="850392" y="1792224"/>
            <a:ext cx="4837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Ablation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1234440" y="4800600"/>
            <a:ext cx="4023360" cy="0"/>
          </a:xfrm>
          <a:prstGeom prst="line">
            <a:avLst/>
          </a:prstGeom>
          <a:noFill/>
          <a:ln w="1270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2"/>
          <p:cNvSpPr/>
          <p:nvPr/>
        </p:nvSpPr>
        <p:spPr>
          <a:xfrm>
            <a:off x="1909790" y="2927955"/>
            <a:ext cx="373598" cy="1872645"/>
          </a:xfrm>
          <a:prstGeom prst="roundRect">
            <a:avLst>
              <a:gd name="adj" fmla="val 19580"/>
            </a:avLst>
          </a:prstGeom>
          <a:solidFill>
            <a:srgbClr val="2BAA8E"/>
          </a:solidFill>
          <a:ln w="12700">
            <a:solidFill>
              <a:srgbClr val="2BAA8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3"/>
          <p:cNvSpPr/>
          <p:nvPr/>
        </p:nvSpPr>
        <p:spPr>
          <a:xfrm>
            <a:off x="1909790" y="2479853"/>
            <a:ext cx="373598" cy="1925726"/>
          </a:xfrm>
          <a:prstGeom prst="roundRect">
            <a:avLst>
              <a:gd name="adj" fmla="val 19580"/>
            </a:avLst>
          </a:prstGeom>
          <a:solidFill>
            <a:srgbClr val="CDEDF5"/>
          </a:solidFill>
          <a:ln w="12700">
            <a:solidFill>
              <a:srgbClr val="CDED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4"/>
          <p:cNvSpPr/>
          <p:nvPr/>
        </p:nvSpPr>
        <p:spPr>
          <a:xfrm>
            <a:off x="1909790" y="2927955"/>
            <a:ext cx="373598" cy="1872645"/>
          </a:xfrm>
          <a:prstGeom prst="roundRect">
            <a:avLst>
              <a:gd name="adj" fmla="val 19580"/>
            </a:avLst>
          </a:prstGeom>
          <a:solidFill>
            <a:srgbClr val="2BAA8E"/>
          </a:solidFill>
          <a:ln w="12700">
            <a:solidFill>
              <a:srgbClr val="2BAA8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5"/>
          <p:cNvSpPr/>
          <p:nvPr/>
        </p:nvSpPr>
        <p:spPr>
          <a:xfrm>
            <a:off x="1864070" y="2699355"/>
            <a:ext cx="4650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AA8E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74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800062" y="4937760"/>
            <a:ext cx="5930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Full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3059321" y="3130403"/>
            <a:ext cx="373598" cy="1670197"/>
          </a:xfrm>
          <a:prstGeom prst="roundRect">
            <a:avLst>
              <a:gd name="adj" fmla="val 19580"/>
            </a:avLst>
          </a:prstGeom>
          <a:solidFill>
            <a:srgbClr val="2BAA8E"/>
          </a:solidFill>
          <a:ln w="12700">
            <a:solidFill>
              <a:srgbClr val="2BAA8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18"/>
          <p:cNvSpPr/>
          <p:nvPr/>
        </p:nvSpPr>
        <p:spPr>
          <a:xfrm>
            <a:off x="3059321" y="2479853"/>
            <a:ext cx="373598" cy="1925726"/>
          </a:xfrm>
          <a:prstGeom prst="roundRect">
            <a:avLst>
              <a:gd name="adj" fmla="val 19580"/>
            </a:avLst>
          </a:prstGeom>
          <a:solidFill>
            <a:srgbClr val="CDEDF5"/>
          </a:solidFill>
          <a:ln w="12700">
            <a:solidFill>
              <a:srgbClr val="CDED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19"/>
          <p:cNvSpPr/>
          <p:nvPr/>
        </p:nvSpPr>
        <p:spPr>
          <a:xfrm>
            <a:off x="3059321" y="3130403"/>
            <a:ext cx="373598" cy="1670197"/>
          </a:xfrm>
          <a:prstGeom prst="roundRect">
            <a:avLst>
              <a:gd name="adj" fmla="val 19580"/>
            </a:avLst>
          </a:prstGeom>
          <a:solidFill>
            <a:srgbClr val="2BAA8E"/>
          </a:solidFill>
          <a:ln w="12700">
            <a:solidFill>
              <a:srgbClr val="2BAA8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0"/>
          <p:cNvSpPr/>
          <p:nvPr/>
        </p:nvSpPr>
        <p:spPr>
          <a:xfrm>
            <a:off x="3013601" y="2901803"/>
            <a:ext cx="4650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AA8E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66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2949593" y="4937760"/>
            <a:ext cx="5930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NoReg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4208853" y="3054485"/>
            <a:ext cx="373598" cy="1746115"/>
          </a:xfrm>
          <a:prstGeom prst="roundRect">
            <a:avLst>
              <a:gd name="adj" fmla="val 19580"/>
            </a:avLst>
          </a:prstGeom>
          <a:solidFill>
            <a:srgbClr val="2BAA8E"/>
          </a:solidFill>
          <a:ln w="12700">
            <a:solidFill>
              <a:srgbClr val="2BAA8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3"/>
          <p:cNvSpPr/>
          <p:nvPr/>
        </p:nvSpPr>
        <p:spPr>
          <a:xfrm>
            <a:off x="4208853" y="2479853"/>
            <a:ext cx="373598" cy="1925726"/>
          </a:xfrm>
          <a:prstGeom prst="roundRect">
            <a:avLst>
              <a:gd name="adj" fmla="val 19580"/>
            </a:avLst>
          </a:prstGeom>
          <a:solidFill>
            <a:srgbClr val="CDEDF5"/>
          </a:solidFill>
          <a:ln w="12700">
            <a:solidFill>
              <a:srgbClr val="CDED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4"/>
          <p:cNvSpPr/>
          <p:nvPr/>
        </p:nvSpPr>
        <p:spPr>
          <a:xfrm>
            <a:off x="4208853" y="3054485"/>
            <a:ext cx="373598" cy="1746115"/>
          </a:xfrm>
          <a:prstGeom prst="roundRect">
            <a:avLst>
              <a:gd name="adj" fmla="val 19580"/>
            </a:avLst>
          </a:prstGeom>
          <a:solidFill>
            <a:srgbClr val="2BAA8E"/>
          </a:solidFill>
          <a:ln w="12700">
            <a:solidFill>
              <a:srgbClr val="2BAA8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5"/>
          <p:cNvSpPr/>
          <p:nvPr/>
        </p:nvSpPr>
        <p:spPr>
          <a:xfrm>
            <a:off x="4163133" y="2825885"/>
            <a:ext cx="4650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AA8E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69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4099125" y="4937760"/>
            <a:ext cx="5930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NoExpl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960120" y="52578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Robust accuracy</a:t>
            </a:r>
            <a:endParaRPr lang="en-US" sz="850" dirty="0"/>
          </a:p>
        </p:txBody>
      </p:sp>
      <p:sp>
        <p:nvSpPr>
          <p:cNvPr id="33" name="Shape 28"/>
          <p:cNvSpPr/>
          <p:nvPr/>
        </p:nvSpPr>
        <p:spPr>
          <a:xfrm>
            <a:off x="6263640" y="1737360"/>
            <a:ext cx="47091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4" name="Shape 29"/>
          <p:cNvSpPr/>
          <p:nvPr/>
        </p:nvSpPr>
        <p:spPr>
          <a:xfrm>
            <a:off x="6263640" y="1737360"/>
            <a:ext cx="4709160" cy="329184"/>
          </a:xfrm>
          <a:prstGeom prst="rect">
            <a:avLst/>
          </a:prstGeom>
          <a:solidFill>
            <a:srgbClr val="DF242B"/>
          </a:solidFill>
          <a:ln w="12700">
            <a:solidFill>
              <a:srgbClr val="DF2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0"/>
          <p:cNvSpPr/>
          <p:nvPr/>
        </p:nvSpPr>
        <p:spPr>
          <a:xfrm>
            <a:off x="6336792" y="1792224"/>
            <a:ext cx="4562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Trend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6720840" y="2377440"/>
            <a:ext cx="3794760" cy="0"/>
          </a:xfrm>
          <a:prstGeom prst="line">
            <a:avLst/>
          </a:prstGeom>
          <a:noFill/>
          <a:ln w="10160">
            <a:solidFill>
              <a:srgbClr val="E6ED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Shape 32"/>
          <p:cNvSpPr/>
          <p:nvPr/>
        </p:nvSpPr>
        <p:spPr>
          <a:xfrm>
            <a:off x="6720840" y="3185160"/>
            <a:ext cx="3794760" cy="0"/>
          </a:xfrm>
          <a:prstGeom prst="line">
            <a:avLst/>
          </a:prstGeom>
          <a:noFill/>
          <a:ln w="10160">
            <a:solidFill>
              <a:srgbClr val="E6ED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Shape 33"/>
          <p:cNvSpPr/>
          <p:nvPr/>
        </p:nvSpPr>
        <p:spPr>
          <a:xfrm>
            <a:off x="6720840" y="3992880"/>
            <a:ext cx="3794760" cy="0"/>
          </a:xfrm>
          <a:prstGeom prst="line">
            <a:avLst/>
          </a:prstGeom>
          <a:noFill/>
          <a:ln w="10160">
            <a:solidFill>
              <a:srgbClr val="E6ED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34"/>
          <p:cNvSpPr/>
          <p:nvPr/>
        </p:nvSpPr>
        <p:spPr>
          <a:xfrm>
            <a:off x="6720840" y="4800600"/>
            <a:ext cx="3794760" cy="0"/>
          </a:xfrm>
          <a:prstGeom prst="line">
            <a:avLst/>
          </a:prstGeom>
          <a:noFill/>
          <a:ln w="10160">
            <a:solidFill>
              <a:srgbClr val="E6ED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Shape 35"/>
          <p:cNvSpPr/>
          <p:nvPr/>
        </p:nvSpPr>
        <p:spPr>
          <a:xfrm>
            <a:off x="6720840" y="4437126"/>
            <a:ext cx="834847" cy="0"/>
          </a:xfrm>
          <a:prstGeom prst="line">
            <a:avLst/>
          </a:prstGeom>
          <a:noFill/>
          <a:ln w="25400">
            <a:solidFill>
              <a:srgbClr val="DF2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Shape 36"/>
          <p:cNvSpPr/>
          <p:nvPr/>
        </p:nvSpPr>
        <p:spPr>
          <a:xfrm>
            <a:off x="7555687" y="3879799"/>
            <a:ext cx="796900" cy="0"/>
          </a:xfrm>
          <a:prstGeom prst="line">
            <a:avLst/>
          </a:prstGeom>
          <a:noFill/>
          <a:ln w="25400">
            <a:solidFill>
              <a:srgbClr val="DF2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Shape 37"/>
          <p:cNvSpPr/>
          <p:nvPr/>
        </p:nvSpPr>
        <p:spPr>
          <a:xfrm>
            <a:off x="8352587" y="3298241"/>
            <a:ext cx="834847" cy="0"/>
          </a:xfrm>
          <a:prstGeom prst="line">
            <a:avLst/>
          </a:prstGeom>
          <a:noFill/>
          <a:ln w="25400">
            <a:solidFill>
              <a:srgbClr val="DF2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Shape 38"/>
          <p:cNvSpPr/>
          <p:nvPr/>
        </p:nvSpPr>
        <p:spPr>
          <a:xfrm>
            <a:off x="9187434" y="2862072"/>
            <a:ext cx="721004" cy="0"/>
          </a:xfrm>
          <a:prstGeom prst="line">
            <a:avLst/>
          </a:prstGeom>
          <a:noFill/>
          <a:ln w="25400">
            <a:solidFill>
              <a:srgbClr val="DF2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Shape 39"/>
          <p:cNvSpPr/>
          <p:nvPr/>
        </p:nvSpPr>
        <p:spPr>
          <a:xfrm>
            <a:off x="9908438" y="2619756"/>
            <a:ext cx="607162" cy="0"/>
          </a:xfrm>
          <a:prstGeom prst="line">
            <a:avLst/>
          </a:prstGeom>
          <a:noFill/>
          <a:ln w="25400">
            <a:solidFill>
              <a:srgbClr val="DF2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40"/>
          <p:cNvSpPr/>
          <p:nvPr/>
        </p:nvSpPr>
        <p:spPr>
          <a:xfrm>
            <a:off x="6400800" y="52578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Validation score over epochs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35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FFDB13"/>
          </a:solidFill>
          <a:ln w="12700">
            <a:solidFill>
              <a:srgbClr val="FFDB1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mnt/data/ppt_logo_assets/logo_standard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02920"/>
            <a:ext cx="544068" cy="5440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66560" y="42976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15508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ISISLab</a:t>
            </a:r>
            <a:endParaRPr lang="en-US" sz="3800" dirty="0"/>
          </a:p>
        </p:txBody>
      </p:sp>
      <p:pic>
        <p:nvPicPr>
          <p:cNvPr id="6" name="Image 1" descr="/mnt/data/ppt_logo_assets/topo_so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5640" y="1600200"/>
            <a:ext cx="3413760" cy="2560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4128" y="19202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B13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SECTION 06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005840" y="2770632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Discussion and Conclusion</a:t>
            </a:r>
            <a:endParaRPr lang="en-US" sz="3800" dirty="0"/>
          </a:p>
        </p:txBody>
      </p:sp>
      <p:sp>
        <p:nvSpPr>
          <p:cNvPr id="9" name="Text 5"/>
          <p:cNvSpPr/>
          <p:nvPr/>
        </p:nvSpPr>
        <p:spPr>
          <a:xfrm>
            <a:off x="1005840" y="41605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DEAF3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Interpret the evidence and close the research story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914400" y="5349240"/>
            <a:ext cx="2560320" cy="0"/>
          </a:xfrm>
          <a:prstGeom prst="line">
            <a:avLst/>
          </a:prstGeom>
          <a:noFill/>
          <a:ln w="27940">
            <a:solidFill>
              <a:srgbClr val="FFDB1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7"/>
          <p:cNvSpPr/>
          <p:nvPr/>
        </p:nvSpPr>
        <p:spPr>
          <a:xfrm>
            <a:off x="7178040" y="5559552"/>
            <a:ext cx="822960" cy="228600"/>
          </a:xfrm>
          <a:prstGeom prst="roundRect">
            <a:avLst>
              <a:gd name="adj" fmla="val 20000"/>
            </a:avLst>
          </a:prstGeom>
          <a:solidFill>
            <a:srgbClr val="FFDB13"/>
          </a:solidFill>
          <a:ln w="12700">
            <a:solidFill>
              <a:srgbClr val="FFDB1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8"/>
          <p:cNvSpPr/>
          <p:nvPr/>
        </p:nvSpPr>
        <p:spPr>
          <a:xfrm>
            <a:off x="7214616" y="56007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Takeaway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8092440" y="55229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DDEAF3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Limitations, implications, future work, and final message.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mnt/data/ppt_logo_assets/logo_standard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4389120" cy="4389120"/>
          </a:xfrm>
          <a:prstGeom prst="rect">
            <a:avLst/>
          </a:prstGeom>
        </p:spPr>
      </p:pic>
      <p:pic>
        <p:nvPicPr>
          <p:cNvPr id="6" name="Image 2" descr="/mnt/data/ppt_logo_assets/topo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5459" y="292608"/>
            <a:ext cx="950969" cy="71322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5488" y="420624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Limitations and threats to validity</a:t>
            </a:r>
            <a:endParaRPr lang="en-US" sz="3100" dirty="0"/>
          </a:p>
        </p:txBody>
      </p:sp>
      <p:sp>
        <p:nvSpPr>
          <p:cNvPr id="8" name="Shape 3"/>
          <p:cNvSpPr/>
          <p:nvPr/>
        </p:nvSpPr>
        <p:spPr>
          <a:xfrm>
            <a:off x="475488" y="1005840"/>
            <a:ext cx="11247120" cy="0"/>
          </a:xfrm>
          <a:prstGeom prst="line">
            <a:avLst/>
          </a:prstGeom>
          <a:noFill/>
          <a:ln w="1397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4"/>
          <p:cNvSpPr/>
          <p:nvPr/>
        </p:nvSpPr>
        <p:spPr>
          <a:xfrm>
            <a:off x="73152" y="65653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Research Paper Presentation Template   ·   Discussion and Conclusion</a:t>
            </a:r>
            <a:endParaRPr lang="en-US" sz="640" dirty="0"/>
          </a:p>
        </p:txBody>
      </p:sp>
      <p:sp>
        <p:nvSpPr>
          <p:cNvPr id="10" name="Text 5"/>
          <p:cNvSpPr/>
          <p:nvPr/>
        </p:nvSpPr>
        <p:spPr>
          <a:xfrm>
            <a:off x="11430000" y="65196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19/31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777240" y="1965960"/>
            <a:ext cx="48006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9"/>
          <p:cNvSpPr/>
          <p:nvPr/>
        </p:nvSpPr>
        <p:spPr>
          <a:xfrm>
            <a:off x="777240" y="1965960"/>
            <a:ext cx="4800600" cy="329184"/>
          </a:xfrm>
          <a:prstGeom prst="rect">
            <a:avLst/>
          </a:prstGeom>
          <a:solidFill>
            <a:srgbClr val="DF242B"/>
          </a:solidFill>
          <a:ln w="12700">
            <a:solidFill>
              <a:srgbClr val="DF2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0"/>
          <p:cNvSpPr/>
          <p:nvPr/>
        </p:nvSpPr>
        <p:spPr>
          <a:xfrm>
            <a:off x="850392" y="2020824"/>
            <a:ext cx="4654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Limitations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960120" y="2468880"/>
            <a:ext cx="292608" cy="292608"/>
          </a:xfrm>
          <a:prstGeom prst="ellipse">
            <a:avLst/>
          </a:prstGeom>
          <a:solidFill>
            <a:srgbClr val="DF242B"/>
          </a:solidFill>
          <a:ln w="12700">
            <a:solidFill>
              <a:srgbClr val="DF2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2"/>
          <p:cNvSpPr/>
          <p:nvPr/>
        </p:nvSpPr>
        <p:spPr>
          <a:xfrm>
            <a:off x="960120" y="252374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399032" y="24871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Only medium-scale datasets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60120" y="3127248"/>
            <a:ext cx="292608" cy="292608"/>
          </a:xfrm>
          <a:prstGeom prst="ellipse">
            <a:avLst/>
          </a:prstGeom>
          <a:solidFill>
            <a:srgbClr val="DF242B"/>
          </a:solidFill>
          <a:ln w="12700">
            <a:solidFill>
              <a:srgbClr val="DF2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5"/>
          <p:cNvSpPr/>
          <p:nvPr/>
        </p:nvSpPr>
        <p:spPr>
          <a:xfrm>
            <a:off x="960120" y="3182112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399032" y="31455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Synthetic shift may not capture all deployment cases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960120" y="3785616"/>
            <a:ext cx="292608" cy="292608"/>
          </a:xfrm>
          <a:prstGeom prst="ellipse">
            <a:avLst/>
          </a:prstGeom>
          <a:solidFill>
            <a:srgbClr val="DF242B"/>
          </a:solidFill>
          <a:ln w="12700">
            <a:solidFill>
              <a:srgbClr val="DF2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18"/>
          <p:cNvSpPr/>
          <p:nvPr/>
        </p:nvSpPr>
        <p:spPr>
          <a:xfrm>
            <a:off x="960120" y="3840480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399032" y="38039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Interpretability metric is task dependent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446520" y="1965960"/>
            <a:ext cx="46177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1"/>
          <p:cNvSpPr/>
          <p:nvPr/>
        </p:nvSpPr>
        <p:spPr>
          <a:xfrm>
            <a:off x="6446520" y="1965960"/>
            <a:ext cx="4617720" cy="329184"/>
          </a:xfrm>
          <a:prstGeom prst="rect">
            <a:avLst/>
          </a:prstGeom>
          <a:solidFill>
            <a:srgbClr val="2BAA8E"/>
          </a:solidFill>
          <a:ln w="12700">
            <a:solidFill>
              <a:srgbClr val="2BAA8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2"/>
          <p:cNvSpPr/>
          <p:nvPr/>
        </p:nvSpPr>
        <p:spPr>
          <a:xfrm>
            <a:off x="6519672" y="2020824"/>
            <a:ext cx="447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Mitigations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629400" y="2468880"/>
            <a:ext cx="292608" cy="292608"/>
          </a:xfrm>
          <a:prstGeom prst="ellipse">
            <a:avLst/>
          </a:prstGeom>
          <a:solidFill>
            <a:srgbClr val="2BAA8E"/>
          </a:solidFill>
          <a:ln w="12700">
            <a:solidFill>
              <a:srgbClr val="2BAA8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4"/>
          <p:cNvSpPr/>
          <p:nvPr/>
        </p:nvSpPr>
        <p:spPr>
          <a:xfrm>
            <a:off x="6629400" y="252374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7068312" y="24871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Release scripts for replication</a:t>
            </a:r>
            <a:endParaRPr lang="en-US" sz="1250" dirty="0"/>
          </a:p>
        </p:txBody>
      </p:sp>
      <p:sp>
        <p:nvSpPr>
          <p:cNvPr id="31" name="Shape 26"/>
          <p:cNvSpPr/>
          <p:nvPr/>
        </p:nvSpPr>
        <p:spPr>
          <a:xfrm>
            <a:off x="6629400" y="3054096"/>
            <a:ext cx="292608" cy="292608"/>
          </a:xfrm>
          <a:prstGeom prst="ellipse">
            <a:avLst/>
          </a:prstGeom>
          <a:solidFill>
            <a:srgbClr val="2BAA8E"/>
          </a:solidFill>
          <a:ln w="12700">
            <a:solidFill>
              <a:srgbClr val="2BAA8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27"/>
          <p:cNvSpPr/>
          <p:nvPr/>
        </p:nvSpPr>
        <p:spPr>
          <a:xfrm>
            <a:off x="6629400" y="3108960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7068312" y="30723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Include diverse baselines</a:t>
            </a:r>
            <a:endParaRPr lang="en-US" sz="1250" dirty="0"/>
          </a:p>
        </p:txBody>
      </p:sp>
      <p:sp>
        <p:nvSpPr>
          <p:cNvPr id="34" name="Shape 29"/>
          <p:cNvSpPr/>
          <p:nvPr/>
        </p:nvSpPr>
        <p:spPr>
          <a:xfrm>
            <a:off x="6629400" y="3639312"/>
            <a:ext cx="292608" cy="292608"/>
          </a:xfrm>
          <a:prstGeom prst="ellipse">
            <a:avLst/>
          </a:prstGeom>
          <a:solidFill>
            <a:srgbClr val="2BAA8E"/>
          </a:solidFill>
          <a:ln w="12700">
            <a:solidFill>
              <a:srgbClr val="2BAA8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0"/>
          <p:cNvSpPr/>
          <p:nvPr/>
        </p:nvSpPr>
        <p:spPr>
          <a:xfrm>
            <a:off x="6629400" y="3694176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7068312" y="36576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Report failure cases rather than hiding them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mnt/data/ppt_logo_assets/logo_standard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4389120" cy="4389120"/>
          </a:xfrm>
          <a:prstGeom prst="rect">
            <a:avLst/>
          </a:prstGeom>
        </p:spPr>
      </p:pic>
      <p:pic>
        <p:nvPicPr>
          <p:cNvPr id="6" name="Image 2" descr="/mnt/data/ppt_logo_assets/topo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5460" y="292608"/>
            <a:ext cx="951052" cy="71329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5488" y="420624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Conclusion</a:t>
            </a:r>
            <a:endParaRPr lang="en-US" sz="3100" dirty="0"/>
          </a:p>
        </p:txBody>
      </p:sp>
      <p:sp>
        <p:nvSpPr>
          <p:cNvPr id="8" name="Shape 3"/>
          <p:cNvSpPr/>
          <p:nvPr/>
        </p:nvSpPr>
        <p:spPr>
          <a:xfrm>
            <a:off x="475488" y="1005840"/>
            <a:ext cx="11247120" cy="0"/>
          </a:xfrm>
          <a:prstGeom prst="line">
            <a:avLst/>
          </a:prstGeom>
          <a:noFill/>
          <a:ln w="1397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4"/>
          <p:cNvSpPr/>
          <p:nvPr/>
        </p:nvSpPr>
        <p:spPr>
          <a:xfrm>
            <a:off x="73152" y="65653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Research Paper Presentation Template   ·   Discussion and Conclusion</a:t>
            </a:r>
            <a:endParaRPr lang="en-US" sz="640" dirty="0"/>
          </a:p>
        </p:txBody>
      </p:sp>
      <p:sp>
        <p:nvSpPr>
          <p:cNvPr id="10" name="Text 5"/>
          <p:cNvSpPr/>
          <p:nvPr/>
        </p:nvSpPr>
        <p:spPr>
          <a:xfrm>
            <a:off x="11430000" y="65196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20/31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777240" y="1874520"/>
            <a:ext cx="4892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9"/>
          <p:cNvSpPr/>
          <p:nvPr/>
        </p:nvSpPr>
        <p:spPr>
          <a:xfrm>
            <a:off x="777240" y="1874520"/>
            <a:ext cx="4892040" cy="329184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0"/>
          <p:cNvSpPr/>
          <p:nvPr/>
        </p:nvSpPr>
        <p:spPr>
          <a:xfrm>
            <a:off x="850392" y="1929384"/>
            <a:ext cx="4745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Answer to the research question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905256" y="2313432"/>
            <a:ext cx="463600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The method improves robustness under distribution shift while keeping runtime practical and explanations inspectable.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777240" y="3767328"/>
            <a:ext cx="4892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3"/>
          <p:cNvSpPr/>
          <p:nvPr/>
        </p:nvSpPr>
        <p:spPr>
          <a:xfrm>
            <a:off x="777240" y="3767328"/>
            <a:ext cx="4892040" cy="329184"/>
          </a:xfrm>
          <a:prstGeom prst="rect">
            <a:avLst/>
          </a:prstGeom>
          <a:solidFill>
            <a:srgbClr val="2BAA8E"/>
          </a:solidFill>
          <a:ln w="12700">
            <a:solidFill>
              <a:srgbClr val="2BAA8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4"/>
          <p:cNvSpPr/>
          <p:nvPr/>
        </p:nvSpPr>
        <p:spPr>
          <a:xfrm>
            <a:off x="850392" y="3822192"/>
            <a:ext cx="4745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Future work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905256" y="4206240"/>
            <a:ext cx="463600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Scale to larger datasets, validate with field data, and add human-centered evaluation of explanations.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309360" y="1874520"/>
            <a:ext cx="4754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17"/>
          <p:cNvSpPr/>
          <p:nvPr/>
        </p:nvSpPr>
        <p:spPr>
          <a:xfrm>
            <a:off x="6309360" y="1874520"/>
            <a:ext cx="4754880" cy="329184"/>
          </a:xfrm>
          <a:prstGeom prst="rect">
            <a:avLst/>
          </a:prstGeom>
          <a:solidFill>
            <a:srgbClr val="6655A4"/>
          </a:solidFill>
          <a:ln w="12700">
            <a:solidFill>
              <a:srgbClr val="6655A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18"/>
          <p:cNvSpPr/>
          <p:nvPr/>
        </p:nvSpPr>
        <p:spPr>
          <a:xfrm>
            <a:off x="6382512" y="1929384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Final message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6437376" y="2313432"/>
            <a:ext cx="4498848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A great research presentation makes one idea memorable, states refutable contributions, and connects every result back to evidence.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6309360" y="4069080"/>
            <a:ext cx="566928" cy="228600"/>
          </a:xfrm>
          <a:prstGeom prst="roundRect">
            <a:avLst>
              <a:gd name="adj" fmla="val 20000"/>
            </a:avLst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1"/>
          <p:cNvSpPr/>
          <p:nvPr/>
        </p:nvSpPr>
        <p:spPr>
          <a:xfrm>
            <a:off x="6345936" y="4110228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Problem</a:t>
            </a:r>
            <a:endParaRPr lang="en-US" sz="750" dirty="0"/>
          </a:p>
        </p:txBody>
      </p:sp>
      <p:sp>
        <p:nvSpPr>
          <p:cNvPr id="27" name="Shape 22"/>
          <p:cNvSpPr/>
          <p:nvPr/>
        </p:nvSpPr>
        <p:spPr>
          <a:xfrm>
            <a:off x="6967728" y="4069080"/>
            <a:ext cx="438912" cy="228600"/>
          </a:xfrm>
          <a:prstGeom prst="roundRect">
            <a:avLst>
              <a:gd name="adj" fmla="val 20000"/>
            </a:avLst>
          </a:prstGeom>
          <a:solidFill>
            <a:srgbClr val="2BAA8E"/>
          </a:solidFill>
          <a:ln w="12700">
            <a:solidFill>
              <a:srgbClr val="2BAA8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3"/>
          <p:cNvSpPr/>
          <p:nvPr/>
        </p:nvSpPr>
        <p:spPr>
          <a:xfrm>
            <a:off x="7004304" y="4110228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Idea</a:t>
            </a:r>
            <a:endParaRPr lang="en-US" sz="750" dirty="0"/>
          </a:p>
        </p:txBody>
      </p:sp>
      <p:sp>
        <p:nvSpPr>
          <p:cNvPr id="29" name="Shape 24"/>
          <p:cNvSpPr/>
          <p:nvPr/>
        </p:nvSpPr>
        <p:spPr>
          <a:xfrm>
            <a:off x="7516368" y="4069080"/>
            <a:ext cx="658368" cy="228600"/>
          </a:xfrm>
          <a:prstGeom prst="roundRect">
            <a:avLst>
              <a:gd name="adj" fmla="val 20000"/>
            </a:avLst>
          </a:prstGeom>
          <a:solidFill>
            <a:srgbClr val="DF242B"/>
          </a:solidFill>
          <a:ln w="12700">
            <a:solidFill>
              <a:srgbClr val="DF2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5"/>
          <p:cNvSpPr/>
          <p:nvPr/>
        </p:nvSpPr>
        <p:spPr>
          <a:xfrm>
            <a:off x="7552944" y="4110228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Evidence</a:t>
            </a:r>
            <a:endParaRPr lang="en-US" sz="750" dirty="0"/>
          </a:p>
        </p:txBody>
      </p:sp>
      <p:sp>
        <p:nvSpPr>
          <p:cNvPr id="31" name="Shape 26"/>
          <p:cNvSpPr/>
          <p:nvPr/>
        </p:nvSpPr>
        <p:spPr>
          <a:xfrm>
            <a:off x="8302752" y="4069080"/>
            <a:ext cx="566928" cy="228600"/>
          </a:xfrm>
          <a:prstGeom prst="roundRect">
            <a:avLst>
              <a:gd name="adj" fmla="val 20000"/>
            </a:avLst>
          </a:prstGeom>
          <a:solidFill>
            <a:srgbClr val="6655A4"/>
          </a:solidFill>
          <a:ln w="12700">
            <a:solidFill>
              <a:srgbClr val="6655A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27"/>
          <p:cNvSpPr/>
          <p:nvPr/>
        </p:nvSpPr>
        <p:spPr>
          <a:xfrm>
            <a:off x="8339328" y="4110228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Impact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35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FFDB13"/>
          </a:solidFill>
          <a:ln w="12700">
            <a:solidFill>
              <a:srgbClr val="FFDB1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mnt/data/ppt_logo_assets/logo_standard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02920"/>
            <a:ext cx="544068" cy="5440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66560" y="42976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15508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ISISLab</a:t>
            </a:r>
            <a:endParaRPr lang="en-US" sz="3800" dirty="0"/>
          </a:p>
        </p:txBody>
      </p:sp>
      <p:pic>
        <p:nvPicPr>
          <p:cNvPr id="6" name="Image 1" descr="/mnt/data/ppt_logo_assets/topo_so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5640" y="1600200"/>
            <a:ext cx="3413760" cy="2560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4128" y="19202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9DD0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SECTION 07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1005840" y="2770632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Slide Layout Templates</a:t>
            </a:r>
            <a:endParaRPr lang="en-US" sz="3800" dirty="0"/>
          </a:p>
        </p:txBody>
      </p:sp>
      <p:sp>
        <p:nvSpPr>
          <p:cNvPr id="9" name="Text 5"/>
          <p:cNvSpPr/>
          <p:nvPr/>
        </p:nvSpPr>
        <p:spPr>
          <a:xfrm>
            <a:off x="1005840" y="41605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DEAF3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Copy, replace the images, and keep the same visual grammar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914400" y="5349240"/>
            <a:ext cx="2560320" cy="0"/>
          </a:xfrm>
          <a:prstGeom prst="line">
            <a:avLst/>
          </a:prstGeom>
          <a:noFill/>
          <a:ln w="2794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7"/>
          <p:cNvSpPr/>
          <p:nvPr/>
        </p:nvSpPr>
        <p:spPr>
          <a:xfrm>
            <a:off x="7178040" y="5559552"/>
            <a:ext cx="822960" cy="228600"/>
          </a:xfrm>
          <a:prstGeom prst="roundRect">
            <a:avLst>
              <a:gd name="adj" fmla="val 20000"/>
            </a:avLst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8"/>
          <p:cNvSpPr/>
          <p:nvPr/>
        </p:nvSpPr>
        <p:spPr>
          <a:xfrm>
            <a:off x="7214616" y="560070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Templates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8092440" y="55229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DDEAF3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Ready-made layouts for figures, evidence, comparison, and summary slides.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mnt/data/ppt_logo_assets/logo_standard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4389120" cy="4389120"/>
          </a:xfrm>
          <a:prstGeom prst="rect">
            <a:avLst/>
          </a:prstGeom>
        </p:spPr>
      </p:pic>
      <p:pic>
        <p:nvPicPr>
          <p:cNvPr id="6" name="Image 2" descr="/mnt/data/ppt_logo_assets/topo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5460" y="292608"/>
            <a:ext cx="951052" cy="71329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5488" y="420624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Template: figure left, story right</a:t>
            </a:r>
            <a:endParaRPr lang="en-US" sz="3100" dirty="0"/>
          </a:p>
        </p:txBody>
      </p:sp>
      <p:sp>
        <p:nvSpPr>
          <p:cNvPr id="8" name="Shape 3"/>
          <p:cNvSpPr/>
          <p:nvPr/>
        </p:nvSpPr>
        <p:spPr>
          <a:xfrm>
            <a:off x="475488" y="1005840"/>
            <a:ext cx="11247120" cy="0"/>
          </a:xfrm>
          <a:prstGeom prst="line">
            <a:avLst/>
          </a:prstGeom>
          <a:noFill/>
          <a:ln w="1397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4"/>
          <p:cNvSpPr/>
          <p:nvPr/>
        </p:nvSpPr>
        <p:spPr>
          <a:xfrm>
            <a:off x="73152" y="65653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Research Paper Presentation Template   ·   Slide Layout Templates</a:t>
            </a:r>
            <a:endParaRPr lang="en-US" sz="640" dirty="0"/>
          </a:p>
        </p:txBody>
      </p:sp>
      <p:sp>
        <p:nvSpPr>
          <p:cNvPr id="10" name="Text 5"/>
          <p:cNvSpPr/>
          <p:nvPr/>
        </p:nvSpPr>
        <p:spPr>
          <a:xfrm>
            <a:off x="11430000" y="65196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22/31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777240" y="1645920"/>
            <a:ext cx="50292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9"/>
          <p:cNvSpPr/>
          <p:nvPr/>
        </p:nvSpPr>
        <p:spPr>
          <a:xfrm>
            <a:off x="777240" y="1645920"/>
            <a:ext cx="5029200" cy="329184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0"/>
          <p:cNvSpPr/>
          <p:nvPr/>
        </p:nvSpPr>
        <p:spPr>
          <a:xfrm>
            <a:off x="850392" y="1700784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Hero figure</a:t>
            </a:r>
            <a:endParaRPr lang="en-US" sz="1050" dirty="0"/>
          </a:p>
        </p:txBody>
      </p:sp>
      <p:pic>
        <p:nvPicPr>
          <p:cNvPr id="16" name="Image 3" descr="/mnt/data/ppt_logo_assets/topo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780" y="2240280"/>
            <a:ext cx="3291840" cy="2468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5230368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Replace with the main diagram, model overview, or result figure.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6537960" y="1645920"/>
            <a:ext cx="45262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3"/>
          <p:cNvSpPr/>
          <p:nvPr/>
        </p:nvSpPr>
        <p:spPr>
          <a:xfrm>
            <a:off x="6537960" y="1645920"/>
            <a:ext cx="4526280" cy="329184"/>
          </a:xfrm>
          <a:prstGeom prst="rect">
            <a:avLst/>
          </a:prstGeom>
          <a:solidFill>
            <a:srgbClr val="2BAA8E"/>
          </a:solidFill>
          <a:ln w="12700">
            <a:solidFill>
              <a:srgbClr val="2BAA8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4"/>
          <p:cNvSpPr/>
          <p:nvPr/>
        </p:nvSpPr>
        <p:spPr>
          <a:xfrm>
            <a:off x="6611112" y="1700784"/>
            <a:ext cx="4379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Right-side narrative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720840" y="2148840"/>
            <a:ext cx="292608" cy="292608"/>
          </a:xfrm>
          <a:prstGeom prst="ellipse">
            <a:avLst/>
          </a:prstGeom>
          <a:solidFill>
            <a:srgbClr val="2BAA8E"/>
          </a:solidFill>
          <a:ln w="12700">
            <a:solidFill>
              <a:srgbClr val="2BAA8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6"/>
          <p:cNvSpPr/>
          <p:nvPr/>
        </p:nvSpPr>
        <p:spPr>
          <a:xfrm>
            <a:off x="6720840" y="2203704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159752" y="216712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Name the visual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720840" y="2816352"/>
            <a:ext cx="292608" cy="292608"/>
          </a:xfrm>
          <a:prstGeom prst="ellipse">
            <a:avLst/>
          </a:prstGeom>
          <a:solidFill>
            <a:srgbClr val="2BAA8E"/>
          </a:solidFill>
          <a:ln w="12700">
            <a:solidFill>
              <a:srgbClr val="2BAA8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19"/>
          <p:cNvSpPr/>
          <p:nvPr/>
        </p:nvSpPr>
        <p:spPr>
          <a:xfrm>
            <a:off x="6720840" y="2871216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7159752" y="28346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State the key message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6720840" y="3483864"/>
            <a:ext cx="292608" cy="292608"/>
          </a:xfrm>
          <a:prstGeom prst="ellipse">
            <a:avLst/>
          </a:prstGeom>
          <a:solidFill>
            <a:srgbClr val="2BAA8E"/>
          </a:solidFill>
          <a:ln w="12700">
            <a:solidFill>
              <a:srgbClr val="2BAA8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2"/>
          <p:cNvSpPr/>
          <p:nvPr/>
        </p:nvSpPr>
        <p:spPr>
          <a:xfrm>
            <a:off x="6720840" y="3538728"/>
            <a:ext cx="292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7159752" y="350215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Explain why it matters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6537960" y="4343400"/>
            <a:ext cx="4526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Shape 25"/>
          <p:cNvSpPr/>
          <p:nvPr/>
        </p:nvSpPr>
        <p:spPr>
          <a:xfrm>
            <a:off x="6537960" y="4343400"/>
            <a:ext cx="4526280" cy="329184"/>
          </a:xfrm>
          <a:prstGeom prst="rect">
            <a:avLst/>
          </a:prstGeom>
          <a:solidFill>
            <a:srgbClr val="FFDB13"/>
          </a:solidFill>
          <a:ln w="12700">
            <a:solidFill>
              <a:srgbClr val="FFDB1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26"/>
          <p:cNvSpPr/>
          <p:nvPr/>
        </p:nvSpPr>
        <p:spPr>
          <a:xfrm>
            <a:off x="6611112" y="4398264"/>
            <a:ext cx="4379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Design cue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6665976" y="4782312"/>
            <a:ext cx="4270248" cy="9326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Use one large image on the left when the audience should inspect the figure before reading the interpretation.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mnt/data/ppt_logo_assets/logo_standard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4389120" cy="4389120"/>
          </a:xfrm>
          <a:prstGeom prst="rect">
            <a:avLst/>
          </a:prstGeom>
        </p:spPr>
      </p:pic>
      <p:pic>
        <p:nvPicPr>
          <p:cNvPr id="5" name="Image 1" descr="/mnt/data/ppt_logo_assets/topo_water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645920"/>
            <a:ext cx="4754880" cy="3566160"/>
          </a:xfrm>
          <a:prstGeom prst="rect">
            <a:avLst/>
          </a:prstGeom>
        </p:spPr>
      </p:pic>
      <p:pic>
        <p:nvPicPr>
          <p:cNvPr id="6" name="Image 2" descr="/mnt/data/ppt_logo_assets/topo(1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5460" y="292608"/>
            <a:ext cx="951052" cy="71329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5488" y="420624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Template: story left, figure right</a:t>
            </a:r>
            <a:endParaRPr lang="en-US" sz="3100" dirty="0"/>
          </a:p>
        </p:txBody>
      </p:sp>
      <p:sp>
        <p:nvSpPr>
          <p:cNvPr id="8" name="Shape 3"/>
          <p:cNvSpPr/>
          <p:nvPr/>
        </p:nvSpPr>
        <p:spPr>
          <a:xfrm>
            <a:off x="475488" y="1005840"/>
            <a:ext cx="11247120" cy="0"/>
          </a:xfrm>
          <a:prstGeom prst="line">
            <a:avLst/>
          </a:prstGeom>
          <a:noFill/>
          <a:ln w="1397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4"/>
          <p:cNvSpPr/>
          <p:nvPr/>
        </p:nvSpPr>
        <p:spPr>
          <a:xfrm>
            <a:off x="73152" y="65653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Research Paper Presentation Template   ·   Slide Layout Templates</a:t>
            </a:r>
            <a:endParaRPr lang="en-US" sz="640" dirty="0"/>
          </a:p>
        </p:txBody>
      </p:sp>
      <p:sp>
        <p:nvSpPr>
          <p:cNvPr id="10" name="Text 5"/>
          <p:cNvSpPr/>
          <p:nvPr/>
        </p:nvSpPr>
        <p:spPr>
          <a:xfrm>
            <a:off x="11430000" y="65196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23/31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777240" y="1645920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9"/>
          <p:cNvSpPr/>
          <p:nvPr/>
        </p:nvSpPr>
        <p:spPr>
          <a:xfrm>
            <a:off x="777240" y="1645920"/>
            <a:ext cx="4480560" cy="329184"/>
          </a:xfrm>
          <a:prstGeom prst="rect">
            <a:avLst/>
          </a:prstGeom>
          <a:solidFill>
            <a:srgbClr val="DF242B"/>
          </a:solidFill>
          <a:ln w="12700">
            <a:solidFill>
              <a:srgbClr val="DF2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0"/>
          <p:cNvSpPr/>
          <p:nvPr/>
        </p:nvSpPr>
        <p:spPr>
          <a:xfrm>
            <a:off x="850392" y="1700784"/>
            <a:ext cx="4334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Left-side claim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905256" y="2084832"/>
            <a:ext cx="4224528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Start with a short claim, then use the figure as evidence. This layout works well for ablations, examples, and qualitative results.</a:t>
            </a:r>
            <a:endParaRPr lang="en-US" sz="1280" dirty="0"/>
          </a:p>
        </p:txBody>
      </p:sp>
      <p:sp>
        <p:nvSpPr>
          <p:cNvPr id="17" name="Shape 12"/>
          <p:cNvSpPr/>
          <p:nvPr/>
        </p:nvSpPr>
        <p:spPr>
          <a:xfrm>
            <a:off x="777240" y="3310128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009DD0">
                <a:alpha val="75000"/>
              </a:srgbClr>
            </a:solidFill>
            <a:prstDash val="solid"/>
          </a:ln>
          <a:effectLst>
            <a:outerShdw blurRad="12700" dist="50800" dir="2700000" algn="bl" rotWithShape="0">
              <a:srgbClr val="C8D2DA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3"/>
          <p:cNvSpPr/>
          <p:nvPr/>
        </p:nvSpPr>
        <p:spPr>
          <a:xfrm>
            <a:off x="777240" y="3474720"/>
            <a:ext cx="2514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9DD0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1</a:t>
            </a:r>
            <a:endParaRPr lang="en-US" sz="2800" dirty="0"/>
          </a:p>
        </p:txBody>
      </p:sp>
      <p:sp>
        <p:nvSpPr>
          <p:cNvPr id="19" name="Text 14"/>
          <p:cNvSpPr/>
          <p:nvPr/>
        </p:nvSpPr>
        <p:spPr>
          <a:xfrm>
            <a:off x="868680" y="403021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claim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77240" y="46177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2BAA8E">
                <a:alpha val="75000"/>
              </a:srgbClr>
            </a:solidFill>
            <a:prstDash val="solid"/>
          </a:ln>
          <a:effectLst>
            <a:outerShdw blurRad="12700" dist="50800" dir="2700000" algn="bl" rotWithShape="0">
              <a:srgbClr val="C8D2DA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6"/>
          <p:cNvSpPr/>
          <p:nvPr/>
        </p:nvSpPr>
        <p:spPr>
          <a:xfrm>
            <a:off x="777240" y="4782312"/>
            <a:ext cx="2514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BAA8E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1</a:t>
            </a:r>
            <a:endParaRPr lang="en-US" sz="2800" dirty="0"/>
          </a:p>
        </p:txBody>
      </p:sp>
      <p:sp>
        <p:nvSpPr>
          <p:cNvPr id="22" name="Text 17"/>
          <p:cNvSpPr/>
          <p:nvPr/>
        </p:nvSpPr>
        <p:spPr>
          <a:xfrm>
            <a:off x="868680" y="533781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figure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126480" y="1645920"/>
            <a:ext cx="49377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19"/>
          <p:cNvSpPr/>
          <p:nvPr/>
        </p:nvSpPr>
        <p:spPr>
          <a:xfrm>
            <a:off x="6126480" y="1645920"/>
            <a:ext cx="4937760" cy="329184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0"/>
          <p:cNvSpPr/>
          <p:nvPr/>
        </p:nvSpPr>
        <p:spPr>
          <a:xfrm>
            <a:off x="6199632" y="1700784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Supporting figure</a:t>
            </a:r>
            <a:endParaRPr lang="en-US" sz="1050" dirty="0"/>
          </a:p>
        </p:txBody>
      </p:sp>
      <p:pic>
        <p:nvPicPr>
          <p:cNvPr id="26" name="Image 3" descr="/mnt/data/ppt_logo_assets/logo_standard(1)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0" y="2286000"/>
            <a:ext cx="1709928" cy="170992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583680" y="53035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Replace with evidence that supports the claim.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mnt/data/ppt_logo_assets/logo_standard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4389120" cy="4389120"/>
          </a:xfrm>
          <a:prstGeom prst="rect">
            <a:avLst/>
          </a:prstGeom>
        </p:spPr>
      </p:pic>
      <p:pic>
        <p:nvPicPr>
          <p:cNvPr id="5" name="Image 1" descr="/mnt/data/ppt_logo_assets/topo_water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645920"/>
            <a:ext cx="4754880" cy="3566160"/>
          </a:xfrm>
          <a:prstGeom prst="rect">
            <a:avLst/>
          </a:prstGeom>
        </p:spPr>
      </p:pic>
      <p:pic>
        <p:nvPicPr>
          <p:cNvPr id="6" name="Image 2" descr="/mnt/data/ppt_logo_assets/topo(1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5460" y="292608"/>
            <a:ext cx="951052" cy="71329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5488" y="420624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Template: two figures comparison</a:t>
            </a:r>
            <a:endParaRPr lang="en-US" sz="3100" dirty="0"/>
          </a:p>
        </p:txBody>
      </p:sp>
      <p:sp>
        <p:nvSpPr>
          <p:cNvPr id="8" name="Shape 3"/>
          <p:cNvSpPr/>
          <p:nvPr/>
        </p:nvSpPr>
        <p:spPr>
          <a:xfrm>
            <a:off x="475488" y="1005840"/>
            <a:ext cx="11247120" cy="0"/>
          </a:xfrm>
          <a:prstGeom prst="line">
            <a:avLst/>
          </a:prstGeom>
          <a:noFill/>
          <a:ln w="1397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4"/>
          <p:cNvSpPr/>
          <p:nvPr/>
        </p:nvSpPr>
        <p:spPr>
          <a:xfrm>
            <a:off x="73152" y="65653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Research Paper Presentation Template   ·   Slide Layout Templates</a:t>
            </a:r>
            <a:endParaRPr lang="en-US" sz="640" dirty="0"/>
          </a:p>
        </p:txBody>
      </p:sp>
      <p:sp>
        <p:nvSpPr>
          <p:cNvPr id="10" name="Text 5"/>
          <p:cNvSpPr/>
          <p:nvPr/>
        </p:nvSpPr>
        <p:spPr>
          <a:xfrm>
            <a:off x="11430000" y="65196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24/31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777240" y="1828800"/>
            <a:ext cx="49834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9"/>
          <p:cNvSpPr/>
          <p:nvPr/>
        </p:nvSpPr>
        <p:spPr>
          <a:xfrm>
            <a:off x="777240" y="1828800"/>
            <a:ext cx="4983480" cy="329184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0"/>
          <p:cNvSpPr/>
          <p:nvPr/>
        </p:nvSpPr>
        <p:spPr>
          <a:xfrm>
            <a:off x="850392" y="1883664"/>
            <a:ext cx="4837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Before / baseline</a:t>
            </a:r>
            <a:endParaRPr lang="en-US" sz="1050" dirty="0"/>
          </a:p>
        </p:txBody>
      </p:sp>
      <p:pic>
        <p:nvPicPr>
          <p:cNvPr id="16" name="Image 3" descr="/mnt/data/ppt_logo_assets/topo_water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3560" y="2331720"/>
            <a:ext cx="2865120" cy="21488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470916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Describe the reference condition.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6263640" y="1828800"/>
            <a:ext cx="49834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3"/>
          <p:cNvSpPr/>
          <p:nvPr/>
        </p:nvSpPr>
        <p:spPr>
          <a:xfrm>
            <a:off x="6263640" y="1828800"/>
            <a:ext cx="4983480" cy="329184"/>
          </a:xfrm>
          <a:prstGeom prst="rect">
            <a:avLst/>
          </a:prstGeom>
          <a:solidFill>
            <a:srgbClr val="2BAA8E"/>
          </a:solidFill>
          <a:ln w="12700">
            <a:solidFill>
              <a:srgbClr val="2BAA8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4"/>
          <p:cNvSpPr/>
          <p:nvPr/>
        </p:nvSpPr>
        <p:spPr>
          <a:xfrm>
            <a:off x="6336792" y="1883664"/>
            <a:ext cx="4837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After / proposed</a:t>
            </a:r>
            <a:endParaRPr lang="en-US" sz="1050" dirty="0"/>
          </a:p>
        </p:txBody>
      </p:sp>
      <p:pic>
        <p:nvPicPr>
          <p:cNvPr id="21" name="Image 4" descr="/mnt/data/ppt_logo_assets/topo(1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9960" y="2331720"/>
            <a:ext cx="2865120" cy="21488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583680" y="470916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Describe the improved condition.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4572000" y="5349240"/>
            <a:ext cx="594360" cy="228600"/>
          </a:xfrm>
          <a:prstGeom prst="roundRect">
            <a:avLst>
              <a:gd name="adj" fmla="val 20000"/>
            </a:avLst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17"/>
          <p:cNvSpPr/>
          <p:nvPr/>
        </p:nvSpPr>
        <p:spPr>
          <a:xfrm>
            <a:off x="4608576" y="5390388"/>
            <a:ext cx="521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Baseline</a:t>
            </a:r>
            <a:endParaRPr lang="en-US" sz="750" dirty="0"/>
          </a:p>
        </p:txBody>
      </p:sp>
      <p:sp>
        <p:nvSpPr>
          <p:cNvPr id="25" name="Shape 18"/>
          <p:cNvSpPr/>
          <p:nvPr/>
        </p:nvSpPr>
        <p:spPr>
          <a:xfrm>
            <a:off x="5321808" y="5349240"/>
            <a:ext cx="685800" cy="228600"/>
          </a:xfrm>
          <a:prstGeom prst="roundRect">
            <a:avLst>
              <a:gd name="adj" fmla="val 20000"/>
            </a:avLst>
          </a:prstGeom>
          <a:solidFill>
            <a:srgbClr val="2BAA8E"/>
          </a:solidFill>
          <a:ln w="12700">
            <a:solidFill>
              <a:srgbClr val="2BAA8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19"/>
          <p:cNvSpPr/>
          <p:nvPr/>
        </p:nvSpPr>
        <p:spPr>
          <a:xfrm>
            <a:off x="5358384" y="53903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Proposed</a:t>
            </a:r>
            <a:endParaRPr lang="en-US" sz="750" dirty="0"/>
          </a:p>
        </p:txBody>
      </p:sp>
      <p:sp>
        <p:nvSpPr>
          <p:cNvPr id="27" name="Shape 20"/>
          <p:cNvSpPr/>
          <p:nvPr/>
        </p:nvSpPr>
        <p:spPr>
          <a:xfrm>
            <a:off x="6199632" y="5349240"/>
            <a:ext cx="685800" cy="228600"/>
          </a:xfrm>
          <a:prstGeom prst="roundRect">
            <a:avLst>
              <a:gd name="adj" fmla="val 20000"/>
            </a:avLst>
          </a:prstGeom>
          <a:solidFill>
            <a:srgbClr val="DF242B"/>
          </a:solidFill>
          <a:ln w="12700">
            <a:solidFill>
              <a:srgbClr val="DF2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1"/>
          <p:cNvSpPr/>
          <p:nvPr/>
        </p:nvSpPr>
        <p:spPr>
          <a:xfrm>
            <a:off x="6236208" y="53903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Difference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mnt/data/ppt_logo_assets/logo_standard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4389120" cy="4389120"/>
          </a:xfrm>
          <a:prstGeom prst="rect">
            <a:avLst/>
          </a:prstGeom>
        </p:spPr>
      </p:pic>
      <p:pic>
        <p:nvPicPr>
          <p:cNvPr id="6" name="Image 2" descr="/mnt/data/ppt_logo_assets/topo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5460" y="292608"/>
            <a:ext cx="951052" cy="71329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5488" y="420624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Template: two figures comparison</a:t>
            </a:r>
            <a:endParaRPr lang="en-US" sz="3100" dirty="0"/>
          </a:p>
        </p:txBody>
      </p:sp>
      <p:sp>
        <p:nvSpPr>
          <p:cNvPr id="8" name="Shape 3"/>
          <p:cNvSpPr/>
          <p:nvPr/>
        </p:nvSpPr>
        <p:spPr>
          <a:xfrm>
            <a:off x="475488" y="1005840"/>
            <a:ext cx="11247120" cy="0"/>
          </a:xfrm>
          <a:prstGeom prst="line">
            <a:avLst/>
          </a:prstGeom>
          <a:noFill/>
          <a:ln w="1397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4"/>
          <p:cNvSpPr/>
          <p:nvPr/>
        </p:nvSpPr>
        <p:spPr>
          <a:xfrm>
            <a:off x="73152" y="65653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Research Paper Presentation Template   ·   Slide Layout Templates</a:t>
            </a:r>
            <a:endParaRPr lang="en-US" sz="640" dirty="0"/>
          </a:p>
        </p:txBody>
      </p:sp>
      <p:sp>
        <p:nvSpPr>
          <p:cNvPr id="10" name="Text 5"/>
          <p:cNvSpPr/>
          <p:nvPr/>
        </p:nvSpPr>
        <p:spPr>
          <a:xfrm>
            <a:off x="11430000" y="65196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25/31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777240" y="1828800"/>
            <a:ext cx="49834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9"/>
          <p:cNvSpPr/>
          <p:nvPr/>
        </p:nvSpPr>
        <p:spPr>
          <a:xfrm>
            <a:off x="777240" y="1828800"/>
            <a:ext cx="4983480" cy="329184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0"/>
          <p:cNvSpPr/>
          <p:nvPr/>
        </p:nvSpPr>
        <p:spPr>
          <a:xfrm>
            <a:off x="850392" y="1883664"/>
            <a:ext cx="4837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Before / baseline</a:t>
            </a:r>
            <a:endParaRPr lang="en-US" sz="1050" dirty="0"/>
          </a:p>
        </p:txBody>
      </p:sp>
      <p:pic>
        <p:nvPicPr>
          <p:cNvPr id="16" name="Image 3" descr="/mnt/data/ppt_logo_assets/topo_water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3560" y="2331720"/>
            <a:ext cx="2865120" cy="21488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470916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Describe the reference condition.</a:t>
            </a:r>
            <a:endParaRPr lang="en-US" sz="1000" dirty="0"/>
          </a:p>
        </p:txBody>
      </p:sp>
      <p:pic>
        <p:nvPicPr>
          <p:cNvPr id="18" name="Image 4" descr="/mnt/data/ppt_logo_assets/topo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965960"/>
            <a:ext cx="3291840" cy="246888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4572000" y="5349240"/>
            <a:ext cx="594360" cy="228600"/>
          </a:xfrm>
          <a:prstGeom prst="roundRect">
            <a:avLst>
              <a:gd name="adj" fmla="val 20000"/>
            </a:avLst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3"/>
          <p:cNvSpPr/>
          <p:nvPr/>
        </p:nvSpPr>
        <p:spPr>
          <a:xfrm>
            <a:off x="4608576" y="5390388"/>
            <a:ext cx="521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Baseline</a:t>
            </a:r>
            <a:endParaRPr lang="en-US" sz="750" dirty="0"/>
          </a:p>
        </p:txBody>
      </p:sp>
      <p:sp>
        <p:nvSpPr>
          <p:cNvPr id="21" name="Shape 14"/>
          <p:cNvSpPr/>
          <p:nvPr/>
        </p:nvSpPr>
        <p:spPr>
          <a:xfrm>
            <a:off x="5321808" y="5349240"/>
            <a:ext cx="685800" cy="228600"/>
          </a:xfrm>
          <a:prstGeom prst="roundRect">
            <a:avLst>
              <a:gd name="adj" fmla="val 20000"/>
            </a:avLst>
          </a:prstGeom>
          <a:solidFill>
            <a:srgbClr val="2BAA8E"/>
          </a:solidFill>
          <a:ln w="12700">
            <a:solidFill>
              <a:srgbClr val="2BAA8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5"/>
          <p:cNvSpPr/>
          <p:nvPr/>
        </p:nvSpPr>
        <p:spPr>
          <a:xfrm>
            <a:off x="5358384" y="53903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Proposed</a:t>
            </a:r>
            <a:endParaRPr lang="en-US" sz="750" dirty="0"/>
          </a:p>
        </p:txBody>
      </p:sp>
      <p:sp>
        <p:nvSpPr>
          <p:cNvPr id="23" name="Shape 16"/>
          <p:cNvSpPr/>
          <p:nvPr/>
        </p:nvSpPr>
        <p:spPr>
          <a:xfrm>
            <a:off x="6199632" y="5349240"/>
            <a:ext cx="685800" cy="228600"/>
          </a:xfrm>
          <a:prstGeom prst="roundRect">
            <a:avLst>
              <a:gd name="adj" fmla="val 20000"/>
            </a:avLst>
          </a:prstGeom>
          <a:solidFill>
            <a:srgbClr val="DF242B"/>
          </a:solidFill>
          <a:ln w="12700">
            <a:solidFill>
              <a:srgbClr val="DF2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17"/>
          <p:cNvSpPr/>
          <p:nvPr/>
        </p:nvSpPr>
        <p:spPr>
          <a:xfrm>
            <a:off x="6236208" y="539038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Difference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mnt/data/ppt_logo_assets/logo_standard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4389120" cy="4389120"/>
          </a:xfrm>
          <a:prstGeom prst="rect">
            <a:avLst/>
          </a:prstGeom>
        </p:spPr>
      </p:pic>
      <p:pic>
        <p:nvPicPr>
          <p:cNvPr id="5" name="Image 1" descr="/mnt/data/ppt_logo_assets/topo_water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645920"/>
            <a:ext cx="4754880" cy="3566160"/>
          </a:xfrm>
          <a:prstGeom prst="rect">
            <a:avLst/>
          </a:prstGeom>
        </p:spPr>
      </p:pic>
      <p:pic>
        <p:nvPicPr>
          <p:cNvPr id="6" name="Image 2" descr="/mnt/data/ppt_logo_assets/topo(1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5460" y="292608"/>
            <a:ext cx="951052" cy="71329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5488" y="420624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Template: four figure gallery</a:t>
            </a:r>
            <a:endParaRPr lang="en-US" sz="3100" dirty="0"/>
          </a:p>
        </p:txBody>
      </p:sp>
      <p:sp>
        <p:nvSpPr>
          <p:cNvPr id="8" name="Shape 3"/>
          <p:cNvSpPr/>
          <p:nvPr/>
        </p:nvSpPr>
        <p:spPr>
          <a:xfrm>
            <a:off x="475488" y="1005840"/>
            <a:ext cx="11247120" cy="0"/>
          </a:xfrm>
          <a:prstGeom prst="line">
            <a:avLst/>
          </a:prstGeom>
          <a:noFill/>
          <a:ln w="1397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4"/>
          <p:cNvSpPr/>
          <p:nvPr/>
        </p:nvSpPr>
        <p:spPr>
          <a:xfrm>
            <a:off x="73152" y="65653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Research Paper Presentation Template   ·   Slide Layout Templates</a:t>
            </a:r>
            <a:endParaRPr lang="en-US" sz="640" dirty="0"/>
          </a:p>
        </p:txBody>
      </p:sp>
      <p:sp>
        <p:nvSpPr>
          <p:cNvPr id="10" name="Text 5"/>
          <p:cNvSpPr/>
          <p:nvPr/>
        </p:nvSpPr>
        <p:spPr>
          <a:xfrm>
            <a:off x="11430000" y="65196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26/31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777240" y="1600200"/>
            <a:ext cx="4983480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9"/>
          <p:cNvSpPr/>
          <p:nvPr/>
        </p:nvSpPr>
        <p:spPr>
          <a:xfrm>
            <a:off x="777240" y="1600200"/>
            <a:ext cx="4983480" cy="329184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0"/>
          <p:cNvSpPr/>
          <p:nvPr/>
        </p:nvSpPr>
        <p:spPr>
          <a:xfrm>
            <a:off x="850392" y="1655064"/>
            <a:ext cx="4837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Panel A</a:t>
            </a:r>
            <a:endParaRPr lang="en-US" sz="1050" dirty="0"/>
          </a:p>
        </p:txBody>
      </p:sp>
      <p:pic>
        <p:nvPicPr>
          <p:cNvPr id="16" name="Image 3" descr="/mnt/data/ppt_logo_assets/topo_water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2103120"/>
            <a:ext cx="1463040" cy="10972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322783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Data or task example.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6263640" y="1600200"/>
            <a:ext cx="4983480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3"/>
          <p:cNvSpPr/>
          <p:nvPr/>
        </p:nvSpPr>
        <p:spPr>
          <a:xfrm>
            <a:off x="6263640" y="1600200"/>
            <a:ext cx="4983480" cy="329184"/>
          </a:xfrm>
          <a:prstGeom prst="rect">
            <a:avLst/>
          </a:prstGeom>
          <a:solidFill>
            <a:srgbClr val="6655A4"/>
          </a:solidFill>
          <a:ln w="12700">
            <a:solidFill>
              <a:srgbClr val="6655A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4"/>
          <p:cNvSpPr/>
          <p:nvPr/>
        </p:nvSpPr>
        <p:spPr>
          <a:xfrm>
            <a:off x="6336792" y="1655064"/>
            <a:ext cx="4837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Panel B</a:t>
            </a:r>
            <a:endParaRPr lang="en-US" sz="1050" dirty="0"/>
          </a:p>
        </p:txBody>
      </p:sp>
      <p:pic>
        <p:nvPicPr>
          <p:cNvPr id="21" name="Image 4" descr="/mnt/data/ppt_logo_assets/topo(1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2103120"/>
            <a:ext cx="1463040" cy="10972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583680" y="322783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Model output or case study.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777240" y="3749040"/>
            <a:ext cx="4983480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17"/>
          <p:cNvSpPr/>
          <p:nvPr/>
        </p:nvSpPr>
        <p:spPr>
          <a:xfrm>
            <a:off x="777240" y="3749040"/>
            <a:ext cx="4983480" cy="329184"/>
          </a:xfrm>
          <a:prstGeom prst="rect">
            <a:avLst/>
          </a:prstGeom>
          <a:solidFill>
            <a:srgbClr val="2BAA8E"/>
          </a:solidFill>
          <a:ln w="12700">
            <a:solidFill>
              <a:srgbClr val="2BAA8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18"/>
          <p:cNvSpPr/>
          <p:nvPr/>
        </p:nvSpPr>
        <p:spPr>
          <a:xfrm>
            <a:off x="850392" y="3803904"/>
            <a:ext cx="4837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Panel C</a:t>
            </a:r>
            <a:endParaRPr lang="en-US" sz="1050" dirty="0"/>
          </a:p>
        </p:txBody>
      </p:sp>
      <p:pic>
        <p:nvPicPr>
          <p:cNvPr id="26" name="Image 5" descr="/mnt/data/ppt_logo_assets/logo_standard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4297680"/>
            <a:ext cx="816102" cy="81610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97280" y="537667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Ablation or variant.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6263640" y="3749040"/>
            <a:ext cx="4983480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9" name="Shape 21"/>
          <p:cNvSpPr/>
          <p:nvPr/>
        </p:nvSpPr>
        <p:spPr>
          <a:xfrm>
            <a:off x="6263640" y="3749040"/>
            <a:ext cx="4983480" cy="329184"/>
          </a:xfrm>
          <a:prstGeom prst="rect">
            <a:avLst/>
          </a:prstGeom>
          <a:solidFill>
            <a:srgbClr val="DF242B"/>
          </a:solidFill>
          <a:ln w="12700">
            <a:solidFill>
              <a:srgbClr val="DF2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2"/>
          <p:cNvSpPr/>
          <p:nvPr/>
        </p:nvSpPr>
        <p:spPr>
          <a:xfrm>
            <a:off x="6336792" y="3803904"/>
            <a:ext cx="4837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Panel D</a:t>
            </a:r>
            <a:endParaRPr lang="en-US" sz="1050" dirty="0"/>
          </a:p>
        </p:txBody>
      </p:sp>
      <p:pic>
        <p:nvPicPr>
          <p:cNvPr id="31" name="Image 6" descr="/mnt/data/ppt_logo_assets/logo_standard(1)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4297680"/>
            <a:ext cx="816102" cy="81610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583680" y="5376672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Failure case or insight.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mnt/data/ppt_logo_assets/logo_standard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4389120" cy="4389120"/>
          </a:xfrm>
          <a:prstGeom prst="rect">
            <a:avLst/>
          </a:prstGeom>
        </p:spPr>
      </p:pic>
      <p:pic>
        <p:nvPicPr>
          <p:cNvPr id="6" name="Image 2" descr="/mnt/data/ppt_logo_assets/topo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5460" y="292608"/>
            <a:ext cx="951052" cy="71329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5488" y="420624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Template: figure</a:t>
            </a:r>
            <a:endParaRPr lang="en-US" sz="3100" dirty="0"/>
          </a:p>
        </p:txBody>
      </p:sp>
      <p:sp>
        <p:nvSpPr>
          <p:cNvPr id="8" name="Shape 3"/>
          <p:cNvSpPr/>
          <p:nvPr/>
        </p:nvSpPr>
        <p:spPr>
          <a:xfrm>
            <a:off x="475488" y="1005840"/>
            <a:ext cx="11247120" cy="0"/>
          </a:xfrm>
          <a:prstGeom prst="line">
            <a:avLst/>
          </a:prstGeom>
          <a:noFill/>
          <a:ln w="1397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4"/>
          <p:cNvSpPr/>
          <p:nvPr/>
        </p:nvSpPr>
        <p:spPr>
          <a:xfrm>
            <a:off x="73152" y="65653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Research Paper Presentation Template   ·   Slide Layout Templates</a:t>
            </a:r>
            <a:endParaRPr lang="en-US" sz="640" dirty="0"/>
          </a:p>
        </p:txBody>
      </p:sp>
      <p:sp>
        <p:nvSpPr>
          <p:cNvPr id="10" name="Text 5"/>
          <p:cNvSpPr/>
          <p:nvPr/>
        </p:nvSpPr>
        <p:spPr>
          <a:xfrm>
            <a:off x="11430000" y="65196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27/31</a:t>
            </a:r>
            <a:endParaRPr lang="en-US" sz="800" dirty="0"/>
          </a:p>
        </p:txBody>
      </p:sp>
      <p:sp>
        <p:nvSpPr>
          <p:cNvPr id="11" name="Shape 6"/>
          <p:cNvSpPr/>
          <p:nvPr/>
        </p:nvSpPr>
        <p:spPr>
          <a:xfrm>
            <a:off x="11722608" y="6355080"/>
            <a:ext cx="201168" cy="201168"/>
          </a:xfrm>
          <a:prstGeom prst="arc">
            <a:avLst/>
          </a:prstGeom>
          <a:solidFill>
            <a:srgbClr val="000000">
              <a:alpha val="0"/>
            </a:srgbClr>
          </a:solidFill>
          <a:ln w="12700">
            <a:solidFill>
              <a:srgbClr val="17263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7"/>
          <p:cNvSpPr/>
          <p:nvPr/>
        </p:nvSpPr>
        <p:spPr>
          <a:xfrm>
            <a:off x="11841480" y="6355080"/>
            <a:ext cx="201168" cy="201168"/>
          </a:xfrm>
          <a:prstGeom prst="arc">
            <a:avLst/>
          </a:prstGeom>
          <a:solidFill>
            <a:srgbClr val="000000">
              <a:alpha val="0"/>
            </a:srgbClr>
          </a:solidFill>
          <a:ln w="12700">
            <a:solidFill>
              <a:srgbClr val="17263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8"/>
          <p:cNvSpPr/>
          <p:nvPr/>
        </p:nvSpPr>
        <p:spPr>
          <a:xfrm>
            <a:off x="777240" y="1600200"/>
            <a:ext cx="57150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9"/>
          <p:cNvSpPr/>
          <p:nvPr/>
        </p:nvSpPr>
        <p:spPr>
          <a:xfrm>
            <a:off x="777240" y="1600200"/>
            <a:ext cx="5715000" cy="329184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0"/>
          <p:cNvSpPr/>
          <p:nvPr/>
        </p:nvSpPr>
        <p:spPr>
          <a:xfrm>
            <a:off x="850392" y="1655064"/>
            <a:ext cx="5568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Central figure</a:t>
            </a:r>
            <a:endParaRPr lang="en-US" sz="1050" dirty="0"/>
          </a:p>
        </p:txBody>
      </p:sp>
      <p:pic>
        <p:nvPicPr>
          <p:cNvPr id="16" name="Image 3" descr="/mnt/data/ppt_logo_assets/topo_water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2148840"/>
            <a:ext cx="3108960" cy="23317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5166360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Use for architecture diagrams, experimental setup, or explanatory graphics.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7178040" y="1600200"/>
            <a:ext cx="2240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2BAA8E">
                <a:alpha val="75000"/>
              </a:srgbClr>
            </a:solidFill>
            <a:prstDash val="solid"/>
          </a:ln>
          <a:effectLst>
            <a:outerShdw blurRad="12700" dist="50800" dir="2700000" algn="bl" rotWithShape="0">
              <a:srgbClr val="C8D2DA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Text 13"/>
          <p:cNvSpPr/>
          <p:nvPr/>
        </p:nvSpPr>
        <p:spPr>
          <a:xfrm>
            <a:off x="7178040" y="1764792"/>
            <a:ext cx="2240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BAA8E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+18%</a:t>
            </a:r>
            <a:endParaRPr lang="en-US" sz="2800" dirty="0"/>
          </a:p>
        </p:txBody>
      </p:sp>
      <p:sp>
        <p:nvSpPr>
          <p:cNvPr id="20" name="Text 14"/>
          <p:cNvSpPr/>
          <p:nvPr/>
        </p:nvSpPr>
        <p:spPr>
          <a:xfrm>
            <a:off x="7269480" y="232029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gain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7178040" y="2926080"/>
            <a:ext cx="2240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DF242B">
                <a:alpha val="75000"/>
              </a:srgbClr>
            </a:solidFill>
            <a:prstDash val="solid"/>
          </a:ln>
          <a:effectLst>
            <a:outerShdw blurRad="12700" dist="50800" dir="2700000" algn="bl" rotWithShape="0">
              <a:srgbClr val="C8D2DA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Text 16"/>
          <p:cNvSpPr/>
          <p:nvPr/>
        </p:nvSpPr>
        <p:spPr>
          <a:xfrm>
            <a:off x="7178040" y="3090672"/>
            <a:ext cx="22402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F242B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42 ms</a:t>
            </a:r>
            <a:endParaRPr lang="en-US" sz="2800" dirty="0"/>
          </a:p>
        </p:txBody>
      </p:sp>
      <p:sp>
        <p:nvSpPr>
          <p:cNvPr id="23" name="Text 17"/>
          <p:cNvSpPr/>
          <p:nvPr/>
        </p:nvSpPr>
        <p:spPr>
          <a:xfrm>
            <a:off x="7269480" y="364617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latency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7178040" y="425196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Shape 19"/>
          <p:cNvSpPr/>
          <p:nvPr/>
        </p:nvSpPr>
        <p:spPr>
          <a:xfrm>
            <a:off x="7178040" y="4251960"/>
            <a:ext cx="3611880" cy="329184"/>
          </a:xfrm>
          <a:prstGeom prst="rect">
            <a:avLst/>
          </a:prstGeom>
          <a:solidFill>
            <a:srgbClr val="6655A4"/>
          </a:solidFill>
          <a:ln w="12700">
            <a:solidFill>
              <a:srgbClr val="6655A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0"/>
          <p:cNvSpPr/>
          <p:nvPr/>
        </p:nvSpPr>
        <p:spPr>
          <a:xfrm>
            <a:off x="7251192" y="4306824"/>
            <a:ext cx="3465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Interpretation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7306056" y="4690872"/>
            <a:ext cx="3355848" cy="795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One sentence connects the figure to the main result. One sentence states the limitation.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mnt/data/ppt_logo_assets/logo_standard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4389120" cy="4389120"/>
          </a:xfrm>
          <a:prstGeom prst="rect">
            <a:avLst/>
          </a:prstGeom>
        </p:spPr>
      </p:pic>
      <p:pic>
        <p:nvPicPr>
          <p:cNvPr id="5" name="Image 1" descr="/mnt/data/ppt_logo_assets/topo_water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645920"/>
            <a:ext cx="4754880" cy="3566160"/>
          </a:xfrm>
          <a:prstGeom prst="rect">
            <a:avLst/>
          </a:prstGeom>
        </p:spPr>
      </p:pic>
      <p:pic>
        <p:nvPicPr>
          <p:cNvPr id="6" name="Image 2" descr="/mnt/data/ppt_logo_assets/topo(1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5459" y="292608"/>
            <a:ext cx="950975" cy="71323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5488" y="420624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Template: metrics plus chart</a:t>
            </a:r>
            <a:endParaRPr lang="en-US" sz="3100" dirty="0"/>
          </a:p>
        </p:txBody>
      </p:sp>
      <p:sp>
        <p:nvSpPr>
          <p:cNvPr id="8" name="Shape 3"/>
          <p:cNvSpPr/>
          <p:nvPr/>
        </p:nvSpPr>
        <p:spPr>
          <a:xfrm>
            <a:off x="475488" y="1005840"/>
            <a:ext cx="11247120" cy="0"/>
          </a:xfrm>
          <a:prstGeom prst="line">
            <a:avLst/>
          </a:prstGeom>
          <a:noFill/>
          <a:ln w="1397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4"/>
          <p:cNvSpPr/>
          <p:nvPr/>
        </p:nvSpPr>
        <p:spPr>
          <a:xfrm>
            <a:off x="73152" y="65653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Research Paper Presentation Template   ·   Slide Layout Templates</a:t>
            </a:r>
            <a:endParaRPr lang="en-US" sz="640" dirty="0"/>
          </a:p>
        </p:txBody>
      </p:sp>
      <p:sp>
        <p:nvSpPr>
          <p:cNvPr id="10" name="Text 5"/>
          <p:cNvSpPr/>
          <p:nvPr/>
        </p:nvSpPr>
        <p:spPr>
          <a:xfrm>
            <a:off x="11430000" y="65196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28/31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777240" y="1645920"/>
            <a:ext cx="34290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5240">
            <a:solidFill>
              <a:srgbClr val="009DD0">
                <a:alpha val="75000"/>
              </a:srgbClr>
            </a:solidFill>
            <a:prstDash val="solid"/>
          </a:ln>
          <a:effectLst>
            <a:outerShdw blurRad="12700" dist="50800" dir="2700000" algn="bl" rotWithShape="0">
              <a:srgbClr val="C8D2DA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9"/>
          <p:cNvSpPr/>
          <p:nvPr/>
        </p:nvSpPr>
        <p:spPr>
          <a:xfrm>
            <a:off x="777240" y="1810512"/>
            <a:ext cx="3429000" cy="47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9DD0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74</a:t>
            </a:r>
            <a:endParaRPr lang="en-US" sz="2800" dirty="0"/>
          </a:p>
        </p:txBody>
      </p:sp>
      <p:sp>
        <p:nvSpPr>
          <p:cNvPr id="15" name="Text 10"/>
          <p:cNvSpPr/>
          <p:nvPr/>
        </p:nvSpPr>
        <p:spPr>
          <a:xfrm>
            <a:off x="868680" y="2440899"/>
            <a:ext cx="32461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score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77240" y="3200400"/>
            <a:ext cx="34290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5240">
            <a:solidFill>
              <a:srgbClr val="2BAA8E">
                <a:alpha val="75000"/>
              </a:srgbClr>
            </a:solidFill>
            <a:prstDash val="solid"/>
          </a:ln>
          <a:effectLst>
            <a:outerShdw blurRad="12700" dist="50800" dir="2700000" algn="bl" rotWithShape="0">
              <a:srgbClr val="C8D2DA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2"/>
          <p:cNvSpPr/>
          <p:nvPr/>
        </p:nvSpPr>
        <p:spPr>
          <a:xfrm>
            <a:off x="777240" y="3364992"/>
            <a:ext cx="3429000" cy="47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BAA8E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5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868680" y="3995379"/>
            <a:ext cx="32461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baselines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77240" y="4754880"/>
            <a:ext cx="34290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5240">
            <a:solidFill>
              <a:srgbClr val="DF242B">
                <a:alpha val="75000"/>
              </a:srgbClr>
            </a:solidFill>
            <a:prstDash val="solid"/>
          </a:ln>
          <a:effectLst>
            <a:outerShdw blurRad="12700" dist="50800" dir="2700000" algn="bl" rotWithShape="0">
              <a:srgbClr val="C8D2DA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Text 15"/>
          <p:cNvSpPr/>
          <p:nvPr/>
        </p:nvSpPr>
        <p:spPr>
          <a:xfrm>
            <a:off x="777240" y="4919472"/>
            <a:ext cx="3429000" cy="47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F242B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6"/>
          <p:cNvSpPr/>
          <p:nvPr/>
        </p:nvSpPr>
        <p:spPr>
          <a:xfrm>
            <a:off x="868680" y="5549859"/>
            <a:ext cx="324612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datasets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800600" y="1600200"/>
            <a:ext cx="63093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Shape 18"/>
          <p:cNvSpPr/>
          <p:nvPr/>
        </p:nvSpPr>
        <p:spPr>
          <a:xfrm>
            <a:off x="4800600" y="1600200"/>
            <a:ext cx="6309360" cy="329184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19"/>
          <p:cNvSpPr/>
          <p:nvPr/>
        </p:nvSpPr>
        <p:spPr>
          <a:xfrm>
            <a:off x="4873752" y="16550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Result chart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394960" y="4754880"/>
            <a:ext cx="5120640" cy="0"/>
          </a:xfrm>
          <a:prstGeom prst="line">
            <a:avLst/>
          </a:prstGeom>
          <a:noFill/>
          <a:ln w="1270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1"/>
          <p:cNvSpPr/>
          <p:nvPr/>
        </p:nvSpPr>
        <p:spPr>
          <a:xfrm>
            <a:off x="6254496" y="3312437"/>
            <a:ext cx="475488" cy="1442443"/>
          </a:xfrm>
          <a:prstGeom prst="roundRect">
            <a:avLst>
              <a:gd name="adj" fmla="val 15385"/>
            </a:avLst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2"/>
          <p:cNvSpPr/>
          <p:nvPr/>
        </p:nvSpPr>
        <p:spPr>
          <a:xfrm>
            <a:off x="6254496" y="2305202"/>
            <a:ext cx="475488" cy="2032711"/>
          </a:xfrm>
          <a:prstGeom prst="roundRect">
            <a:avLst>
              <a:gd name="adj" fmla="val 15385"/>
            </a:avLst>
          </a:prstGeom>
          <a:solidFill>
            <a:srgbClr val="CDEDF5"/>
          </a:solidFill>
          <a:ln w="12700">
            <a:solidFill>
              <a:srgbClr val="CDED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3"/>
          <p:cNvSpPr/>
          <p:nvPr/>
        </p:nvSpPr>
        <p:spPr>
          <a:xfrm>
            <a:off x="6254496" y="3312437"/>
            <a:ext cx="475488" cy="1442443"/>
          </a:xfrm>
          <a:prstGeom prst="roundRect">
            <a:avLst>
              <a:gd name="adj" fmla="val 15385"/>
            </a:avLst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4"/>
          <p:cNvSpPr/>
          <p:nvPr/>
        </p:nvSpPr>
        <p:spPr>
          <a:xfrm>
            <a:off x="6208776" y="3083837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9DD0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54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6144768" y="4892040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A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7717536" y="3125453"/>
            <a:ext cx="475488" cy="1629427"/>
          </a:xfrm>
          <a:prstGeom prst="roundRect">
            <a:avLst>
              <a:gd name="adj" fmla="val 15385"/>
            </a:avLst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27"/>
          <p:cNvSpPr/>
          <p:nvPr/>
        </p:nvSpPr>
        <p:spPr>
          <a:xfrm>
            <a:off x="7717536" y="2305202"/>
            <a:ext cx="475488" cy="2032711"/>
          </a:xfrm>
          <a:prstGeom prst="roundRect">
            <a:avLst>
              <a:gd name="adj" fmla="val 15385"/>
            </a:avLst>
          </a:prstGeom>
          <a:solidFill>
            <a:srgbClr val="CDEDF5"/>
          </a:solidFill>
          <a:ln w="12700">
            <a:solidFill>
              <a:srgbClr val="CDED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28"/>
          <p:cNvSpPr/>
          <p:nvPr/>
        </p:nvSpPr>
        <p:spPr>
          <a:xfrm>
            <a:off x="7717536" y="3125453"/>
            <a:ext cx="475488" cy="1629427"/>
          </a:xfrm>
          <a:prstGeom prst="roundRect">
            <a:avLst>
              <a:gd name="adj" fmla="val 15385"/>
            </a:avLst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29"/>
          <p:cNvSpPr/>
          <p:nvPr/>
        </p:nvSpPr>
        <p:spPr>
          <a:xfrm>
            <a:off x="7671816" y="2896853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9DD0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61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7607808" y="4892040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B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9180576" y="2831622"/>
            <a:ext cx="475488" cy="1923258"/>
          </a:xfrm>
          <a:prstGeom prst="roundRect">
            <a:avLst>
              <a:gd name="adj" fmla="val 15385"/>
            </a:avLst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Shape 32"/>
          <p:cNvSpPr/>
          <p:nvPr/>
        </p:nvSpPr>
        <p:spPr>
          <a:xfrm>
            <a:off x="9180576" y="2305202"/>
            <a:ext cx="475488" cy="2032711"/>
          </a:xfrm>
          <a:prstGeom prst="roundRect">
            <a:avLst>
              <a:gd name="adj" fmla="val 15385"/>
            </a:avLst>
          </a:prstGeom>
          <a:solidFill>
            <a:srgbClr val="CDEDF5"/>
          </a:solidFill>
          <a:ln w="12700">
            <a:solidFill>
              <a:srgbClr val="CDED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Shape 33"/>
          <p:cNvSpPr/>
          <p:nvPr/>
        </p:nvSpPr>
        <p:spPr>
          <a:xfrm>
            <a:off x="9180576" y="2831622"/>
            <a:ext cx="475488" cy="1923258"/>
          </a:xfrm>
          <a:prstGeom prst="roundRect">
            <a:avLst>
              <a:gd name="adj" fmla="val 15385"/>
            </a:avLst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4"/>
          <p:cNvSpPr/>
          <p:nvPr/>
        </p:nvSpPr>
        <p:spPr>
          <a:xfrm>
            <a:off x="9134856" y="260302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9DD0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72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9070848" y="4892040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C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5074920" y="53492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Replace labels and values</a:t>
            </a:r>
            <a:endParaRPr lang="en-US" sz="850" dirty="0"/>
          </a:p>
        </p:txBody>
      </p:sp>
      <p:sp>
        <p:nvSpPr>
          <p:cNvPr id="42" name="Shape 37"/>
          <p:cNvSpPr/>
          <p:nvPr/>
        </p:nvSpPr>
        <p:spPr>
          <a:xfrm>
            <a:off x="4800600" y="5989320"/>
            <a:ext cx="749808" cy="228600"/>
          </a:xfrm>
          <a:prstGeom prst="roundRect">
            <a:avLst>
              <a:gd name="adj" fmla="val 20000"/>
            </a:avLst>
          </a:prstGeom>
          <a:solidFill>
            <a:srgbClr val="2BAA8E"/>
          </a:solidFill>
          <a:ln w="12700">
            <a:solidFill>
              <a:srgbClr val="2BAA8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38"/>
          <p:cNvSpPr/>
          <p:nvPr/>
        </p:nvSpPr>
        <p:spPr>
          <a:xfrm>
            <a:off x="4837176" y="6030468"/>
            <a:ext cx="676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Main result</a:t>
            </a:r>
            <a:endParaRPr lang="en-US" sz="750" dirty="0"/>
          </a:p>
        </p:txBody>
      </p:sp>
      <p:sp>
        <p:nvSpPr>
          <p:cNvPr id="44" name="Shape 39"/>
          <p:cNvSpPr/>
          <p:nvPr/>
        </p:nvSpPr>
        <p:spPr>
          <a:xfrm>
            <a:off x="5806440" y="5989320"/>
            <a:ext cx="777240" cy="228600"/>
          </a:xfrm>
          <a:prstGeom prst="roundRect">
            <a:avLst>
              <a:gd name="adj" fmla="val 20000"/>
            </a:avLst>
          </a:prstGeom>
          <a:solidFill>
            <a:srgbClr val="FFDB13"/>
          </a:solidFill>
          <a:ln w="12700">
            <a:solidFill>
              <a:srgbClr val="FFDB1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40"/>
          <p:cNvSpPr/>
          <p:nvPr/>
        </p:nvSpPr>
        <p:spPr>
          <a:xfrm>
            <a:off x="5843016" y="6030468"/>
            <a:ext cx="704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Confidence</a:t>
            </a:r>
            <a:endParaRPr lang="en-US" sz="750" dirty="0"/>
          </a:p>
        </p:txBody>
      </p:sp>
      <p:sp>
        <p:nvSpPr>
          <p:cNvPr id="46" name="Shape 41"/>
          <p:cNvSpPr/>
          <p:nvPr/>
        </p:nvSpPr>
        <p:spPr>
          <a:xfrm>
            <a:off x="6839712" y="5989320"/>
            <a:ext cx="594360" cy="228600"/>
          </a:xfrm>
          <a:prstGeom prst="roundRect">
            <a:avLst>
              <a:gd name="adj" fmla="val 20000"/>
            </a:avLst>
          </a:prstGeom>
          <a:solidFill>
            <a:srgbClr val="DF242B"/>
          </a:solidFill>
          <a:ln w="12700">
            <a:solidFill>
              <a:srgbClr val="DF2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42"/>
          <p:cNvSpPr/>
          <p:nvPr/>
        </p:nvSpPr>
        <p:spPr>
          <a:xfrm>
            <a:off x="6876288" y="6030468"/>
            <a:ext cx="521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Caveat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mnt/data/ppt_logo_assets/logo_standard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4389120" cy="4389120"/>
          </a:xfrm>
          <a:prstGeom prst="rect">
            <a:avLst/>
          </a:prstGeom>
        </p:spPr>
      </p:pic>
      <p:pic>
        <p:nvPicPr>
          <p:cNvPr id="6" name="Image 2" descr="/mnt/data/ppt_logo_assets/topo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5460" y="292608"/>
            <a:ext cx="951052" cy="71329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5488" y="420624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Template: process with output figure</a:t>
            </a:r>
            <a:endParaRPr lang="en-US" sz="3100" dirty="0"/>
          </a:p>
        </p:txBody>
      </p:sp>
      <p:sp>
        <p:nvSpPr>
          <p:cNvPr id="8" name="Shape 3"/>
          <p:cNvSpPr/>
          <p:nvPr/>
        </p:nvSpPr>
        <p:spPr>
          <a:xfrm>
            <a:off x="475488" y="1005840"/>
            <a:ext cx="11247120" cy="0"/>
          </a:xfrm>
          <a:prstGeom prst="line">
            <a:avLst/>
          </a:prstGeom>
          <a:noFill/>
          <a:ln w="1397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4"/>
          <p:cNvSpPr/>
          <p:nvPr/>
        </p:nvSpPr>
        <p:spPr>
          <a:xfrm>
            <a:off x="73152" y="65653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Research Paper Presentation Template   ·   Slide Layout Templates</a:t>
            </a:r>
            <a:endParaRPr lang="en-US" sz="640" dirty="0"/>
          </a:p>
        </p:txBody>
      </p:sp>
      <p:sp>
        <p:nvSpPr>
          <p:cNvPr id="10" name="Text 5"/>
          <p:cNvSpPr/>
          <p:nvPr/>
        </p:nvSpPr>
        <p:spPr>
          <a:xfrm>
            <a:off x="11430000" y="65196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29/31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1920240" y="2148840"/>
            <a:ext cx="182422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2700" dist="50800" dir="2700000" algn="bl" rotWithShape="0">
              <a:srgbClr val="C6D0D9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9"/>
          <p:cNvSpPr/>
          <p:nvPr/>
        </p:nvSpPr>
        <p:spPr>
          <a:xfrm>
            <a:off x="1993392" y="2586380"/>
            <a:ext cx="1677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Input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993392" y="2891333"/>
            <a:ext cx="1677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Raw source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790188" y="2811780"/>
            <a:ext cx="219456" cy="0"/>
          </a:xfrm>
          <a:prstGeom prst="line">
            <a:avLst/>
          </a:prstGeom>
          <a:noFill/>
          <a:ln w="17780">
            <a:solidFill>
              <a:srgbClr val="009D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2"/>
          <p:cNvSpPr/>
          <p:nvPr/>
        </p:nvSpPr>
        <p:spPr>
          <a:xfrm>
            <a:off x="4055364" y="2148840"/>
            <a:ext cx="182422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22860">
            <a:solidFill>
              <a:srgbClr val="0072BC"/>
            </a:solidFill>
            <a:prstDash val="solid"/>
          </a:ln>
          <a:effectLst>
            <a:outerShdw blurRad="12700" dist="50800" dir="2700000" algn="bl" rotWithShape="0">
              <a:srgbClr val="C6D0D9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3"/>
          <p:cNvSpPr/>
          <p:nvPr/>
        </p:nvSpPr>
        <p:spPr>
          <a:xfrm>
            <a:off x="4128516" y="2586380"/>
            <a:ext cx="1677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128516" y="2891333"/>
            <a:ext cx="1677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Core method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925312" y="2811780"/>
            <a:ext cx="219456" cy="0"/>
          </a:xfrm>
          <a:prstGeom prst="line">
            <a:avLst/>
          </a:prstGeom>
          <a:noFill/>
          <a:ln w="17780">
            <a:solidFill>
              <a:srgbClr val="009D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6190488" y="2148840"/>
            <a:ext cx="182422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2700" dist="50800" dir="2700000" algn="bl" rotWithShape="0">
              <a:srgbClr val="C6D0D9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Text 17"/>
          <p:cNvSpPr/>
          <p:nvPr/>
        </p:nvSpPr>
        <p:spPr>
          <a:xfrm>
            <a:off x="6263640" y="2586380"/>
            <a:ext cx="1677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Output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263640" y="2891333"/>
            <a:ext cx="1677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Figure or table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060436" y="2811780"/>
            <a:ext cx="219456" cy="0"/>
          </a:xfrm>
          <a:prstGeom prst="line">
            <a:avLst/>
          </a:prstGeom>
          <a:noFill/>
          <a:ln w="17780">
            <a:solidFill>
              <a:srgbClr val="009D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0"/>
          <p:cNvSpPr/>
          <p:nvPr/>
        </p:nvSpPr>
        <p:spPr>
          <a:xfrm>
            <a:off x="8325612" y="2148840"/>
            <a:ext cx="182422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2700" dist="50800" dir="2700000" algn="bl" rotWithShape="0">
              <a:srgbClr val="C6D0D9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Text 21"/>
          <p:cNvSpPr/>
          <p:nvPr/>
        </p:nvSpPr>
        <p:spPr>
          <a:xfrm>
            <a:off x="8398764" y="2586380"/>
            <a:ext cx="1677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Decision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8398764" y="2891333"/>
            <a:ext cx="1677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Action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777240" y="4434840"/>
            <a:ext cx="48463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9" name="Shape 24"/>
          <p:cNvSpPr/>
          <p:nvPr/>
        </p:nvSpPr>
        <p:spPr>
          <a:xfrm>
            <a:off x="777240" y="4434840"/>
            <a:ext cx="4846320" cy="329184"/>
          </a:xfrm>
          <a:prstGeom prst="rect">
            <a:avLst/>
          </a:prstGeom>
          <a:solidFill>
            <a:srgbClr val="2BAA8E"/>
          </a:solidFill>
          <a:ln w="12700">
            <a:solidFill>
              <a:srgbClr val="2BAA8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5"/>
          <p:cNvSpPr/>
          <p:nvPr/>
        </p:nvSpPr>
        <p:spPr>
          <a:xfrm>
            <a:off x="850392" y="4489704"/>
            <a:ext cx="4700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How to use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905256" y="4873752"/>
            <a:ext cx="4590288" cy="795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Explain the process in the pipeline, then show the concrete output in the neighboring figure.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6400800" y="4434840"/>
            <a:ext cx="4526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3" name="Shape 28"/>
          <p:cNvSpPr/>
          <p:nvPr/>
        </p:nvSpPr>
        <p:spPr>
          <a:xfrm>
            <a:off x="6400800" y="4434840"/>
            <a:ext cx="4526280" cy="329184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29"/>
          <p:cNvSpPr/>
          <p:nvPr/>
        </p:nvSpPr>
        <p:spPr>
          <a:xfrm>
            <a:off x="6473952" y="4489704"/>
            <a:ext cx="4379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Output figure</a:t>
            </a:r>
            <a:endParaRPr lang="en-US" sz="1050" dirty="0"/>
          </a:p>
        </p:txBody>
      </p:sp>
      <p:pic>
        <p:nvPicPr>
          <p:cNvPr id="35" name="Image 3" descr="/mnt/data/ppt_logo_assets/logo_standard(1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4681728"/>
            <a:ext cx="699516" cy="699516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629400" y="548640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Replace with the artifact produced by the method.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mnt/data/ppt_logo_assets/logo_standard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4389120" cy="4389120"/>
          </a:xfrm>
          <a:prstGeom prst="rect">
            <a:avLst/>
          </a:prstGeom>
        </p:spPr>
      </p:pic>
      <p:pic>
        <p:nvPicPr>
          <p:cNvPr id="6" name="Image 2" descr="/mnt/data/ppt_logo_assets/topo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5460" y="292608"/>
            <a:ext cx="951052" cy="71329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5488" y="420624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Template: summary and next steps</a:t>
            </a:r>
            <a:endParaRPr lang="en-US" sz="3100" dirty="0"/>
          </a:p>
        </p:txBody>
      </p:sp>
      <p:sp>
        <p:nvSpPr>
          <p:cNvPr id="8" name="Shape 3"/>
          <p:cNvSpPr/>
          <p:nvPr/>
        </p:nvSpPr>
        <p:spPr>
          <a:xfrm>
            <a:off x="475488" y="1005840"/>
            <a:ext cx="11247120" cy="0"/>
          </a:xfrm>
          <a:prstGeom prst="line">
            <a:avLst/>
          </a:prstGeom>
          <a:noFill/>
          <a:ln w="1397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4"/>
          <p:cNvSpPr/>
          <p:nvPr/>
        </p:nvSpPr>
        <p:spPr>
          <a:xfrm>
            <a:off x="73152" y="65653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Research Paper Presentation Template   ·   Slide Layout Templates</a:t>
            </a:r>
            <a:endParaRPr lang="en-US" sz="640" dirty="0"/>
          </a:p>
        </p:txBody>
      </p:sp>
      <p:sp>
        <p:nvSpPr>
          <p:cNvPr id="10" name="Text 5"/>
          <p:cNvSpPr/>
          <p:nvPr/>
        </p:nvSpPr>
        <p:spPr>
          <a:xfrm>
            <a:off x="11430000" y="65196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30/31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777240" y="182880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9"/>
          <p:cNvSpPr/>
          <p:nvPr/>
        </p:nvSpPr>
        <p:spPr>
          <a:xfrm>
            <a:off x="777240" y="1828800"/>
            <a:ext cx="4937760" cy="329184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0"/>
          <p:cNvSpPr/>
          <p:nvPr/>
        </p:nvSpPr>
        <p:spPr>
          <a:xfrm>
            <a:off x="850392" y="1883664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Takeaway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905256" y="2267712"/>
            <a:ext cx="4681728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The strongest message should fit in two short sentences and repeat the paper’s central contribution.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777240" y="3337560"/>
            <a:ext cx="4937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3"/>
          <p:cNvSpPr/>
          <p:nvPr/>
        </p:nvSpPr>
        <p:spPr>
          <a:xfrm>
            <a:off x="777240" y="3337560"/>
            <a:ext cx="4937760" cy="329184"/>
          </a:xfrm>
          <a:prstGeom prst="rect">
            <a:avLst/>
          </a:prstGeom>
          <a:solidFill>
            <a:srgbClr val="2BAA8E"/>
          </a:solidFill>
          <a:ln w="12700">
            <a:solidFill>
              <a:srgbClr val="2BAA8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4"/>
          <p:cNvSpPr/>
          <p:nvPr/>
        </p:nvSpPr>
        <p:spPr>
          <a:xfrm>
            <a:off x="850392" y="3392424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Next step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905256" y="3776472"/>
            <a:ext cx="4681728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State the immediate action: reproduce, deploy, validate, extend, or compare.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400800" y="1828800"/>
            <a:ext cx="4754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17"/>
          <p:cNvSpPr/>
          <p:nvPr/>
        </p:nvSpPr>
        <p:spPr>
          <a:xfrm>
            <a:off x="6400800" y="1828800"/>
            <a:ext cx="4754880" cy="329184"/>
          </a:xfrm>
          <a:prstGeom prst="rect">
            <a:avLst/>
          </a:prstGeom>
          <a:solidFill>
            <a:srgbClr val="6655A4"/>
          </a:solidFill>
          <a:ln w="12700">
            <a:solidFill>
              <a:srgbClr val="6655A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18"/>
          <p:cNvSpPr/>
          <p:nvPr/>
        </p:nvSpPr>
        <p:spPr>
          <a:xfrm>
            <a:off x="6473952" y="1883664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Style tokens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583680" y="2331720"/>
            <a:ext cx="566928" cy="228600"/>
          </a:xfrm>
          <a:prstGeom prst="roundRect">
            <a:avLst>
              <a:gd name="adj" fmla="val 20000"/>
            </a:avLst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0"/>
          <p:cNvSpPr/>
          <p:nvPr/>
        </p:nvSpPr>
        <p:spPr>
          <a:xfrm>
            <a:off x="6620256" y="2372868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Problem</a:t>
            </a:r>
            <a:endParaRPr lang="en-US" sz="750" dirty="0"/>
          </a:p>
        </p:txBody>
      </p:sp>
      <p:sp>
        <p:nvSpPr>
          <p:cNvPr id="26" name="Shape 21"/>
          <p:cNvSpPr/>
          <p:nvPr/>
        </p:nvSpPr>
        <p:spPr>
          <a:xfrm>
            <a:off x="7269480" y="2331720"/>
            <a:ext cx="566928" cy="228600"/>
          </a:xfrm>
          <a:prstGeom prst="roundRect">
            <a:avLst>
              <a:gd name="adj" fmla="val 20000"/>
            </a:avLst>
          </a:prstGeom>
          <a:solidFill>
            <a:srgbClr val="2BAA8E"/>
          </a:solidFill>
          <a:ln w="12700">
            <a:solidFill>
              <a:srgbClr val="2BAA8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2"/>
          <p:cNvSpPr/>
          <p:nvPr/>
        </p:nvSpPr>
        <p:spPr>
          <a:xfrm>
            <a:off x="7306056" y="2372868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Method</a:t>
            </a:r>
            <a:endParaRPr lang="en-US" sz="750" dirty="0"/>
          </a:p>
        </p:txBody>
      </p:sp>
      <p:sp>
        <p:nvSpPr>
          <p:cNvPr id="28" name="Shape 23"/>
          <p:cNvSpPr/>
          <p:nvPr/>
        </p:nvSpPr>
        <p:spPr>
          <a:xfrm>
            <a:off x="7955280" y="2331720"/>
            <a:ext cx="566928" cy="228600"/>
          </a:xfrm>
          <a:prstGeom prst="roundRect">
            <a:avLst>
              <a:gd name="adj" fmla="val 20000"/>
            </a:avLst>
          </a:prstGeom>
          <a:solidFill>
            <a:srgbClr val="DF242B"/>
          </a:solidFill>
          <a:ln w="12700">
            <a:solidFill>
              <a:srgbClr val="DF2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4"/>
          <p:cNvSpPr/>
          <p:nvPr/>
        </p:nvSpPr>
        <p:spPr>
          <a:xfrm>
            <a:off x="7991856" y="2372868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Result</a:t>
            </a:r>
            <a:endParaRPr lang="en-US" sz="750" dirty="0"/>
          </a:p>
        </p:txBody>
      </p:sp>
      <p:sp>
        <p:nvSpPr>
          <p:cNvPr id="30" name="Shape 25"/>
          <p:cNvSpPr/>
          <p:nvPr/>
        </p:nvSpPr>
        <p:spPr>
          <a:xfrm>
            <a:off x="8641080" y="2331720"/>
            <a:ext cx="566928" cy="228600"/>
          </a:xfrm>
          <a:prstGeom prst="roundRect">
            <a:avLst>
              <a:gd name="adj" fmla="val 20000"/>
            </a:avLst>
          </a:prstGeom>
          <a:solidFill>
            <a:srgbClr val="FFDB13"/>
          </a:solidFill>
          <a:ln w="12700">
            <a:solidFill>
              <a:srgbClr val="FFDB1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6"/>
          <p:cNvSpPr/>
          <p:nvPr/>
        </p:nvSpPr>
        <p:spPr>
          <a:xfrm>
            <a:off x="8677656" y="2372868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Impact</a:t>
            </a:r>
            <a:endParaRPr lang="en-US" sz="750" dirty="0"/>
          </a:p>
        </p:txBody>
      </p:sp>
      <p:sp>
        <p:nvSpPr>
          <p:cNvPr id="32" name="Text 27"/>
          <p:cNvSpPr/>
          <p:nvPr/>
        </p:nvSpPr>
        <p:spPr>
          <a:xfrm>
            <a:off x="6601968" y="270662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Use badges for status labels, metric cards for numbers, and regular cards for reasoning.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6400800" y="3520440"/>
            <a:ext cx="4754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4" name="Shape 29"/>
          <p:cNvSpPr/>
          <p:nvPr/>
        </p:nvSpPr>
        <p:spPr>
          <a:xfrm>
            <a:off x="6400800" y="3520440"/>
            <a:ext cx="4754880" cy="329184"/>
          </a:xfrm>
          <a:prstGeom prst="rect">
            <a:avLst/>
          </a:prstGeom>
          <a:solidFill>
            <a:srgbClr val="DF242B"/>
          </a:solidFill>
          <a:ln w="12700">
            <a:solidFill>
              <a:srgbClr val="DF2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0"/>
          <p:cNvSpPr/>
          <p:nvPr/>
        </p:nvSpPr>
        <p:spPr>
          <a:xfrm>
            <a:off x="6473952" y="3575304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Do not overload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6528816" y="3959352"/>
            <a:ext cx="4498848" cy="795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One slide should communicate one job: compare, explain, quantify, or summarize.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2BC"/>
          </a:solidFill>
          <a:ln w="12700">
            <a:solidFill>
              <a:srgbClr val="00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/mnt/data/ppt_logo_assets/logo_standard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4389120" cy="4389120"/>
          </a:xfrm>
          <a:prstGeom prst="rect">
            <a:avLst/>
          </a:prstGeom>
        </p:spPr>
      </p:pic>
      <p:pic>
        <p:nvPicPr>
          <p:cNvPr id="6" name="Image 2" descr="/mnt/data/ppt_logo_assets/topo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5460" y="292608"/>
            <a:ext cx="951052" cy="71329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5488" y="420624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638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References</a:t>
            </a:r>
            <a:endParaRPr lang="en-US" sz="3100" dirty="0"/>
          </a:p>
        </p:txBody>
      </p:sp>
      <p:sp>
        <p:nvSpPr>
          <p:cNvPr id="8" name="Shape 3"/>
          <p:cNvSpPr/>
          <p:nvPr/>
        </p:nvSpPr>
        <p:spPr>
          <a:xfrm>
            <a:off x="475488" y="1005840"/>
            <a:ext cx="11247120" cy="0"/>
          </a:xfrm>
          <a:prstGeom prst="line">
            <a:avLst/>
          </a:prstGeom>
          <a:noFill/>
          <a:ln w="13970">
            <a:solidFill>
              <a:srgbClr val="D4DE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4"/>
          <p:cNvSpPr/>
          <p:nvPr/>
        </p:nvSpPr>
        <p:spPr>
          <a:xfrm>
            <a:off x="73152" y="65653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Research Paper Presentation Template   ·   Slide Layout Templates</a:t>
            </a:r>
            <a:endParaRPr lang="en-US" sz="640" dirty="0"/>
          </a:p>
        </p:txBody>
      </p:sp>
      <p:sp>
        <p:nvSpPr>
          <p:cNvPr id="10" name="Text 5"/>
          <p:cNvSpPr/>
          <p:nvPr/>
        </p:nvSpPr>
        <p:spPr>
          <a:xfrm>
            <a:off x="11430000" y="65196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8A5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31/31</a:t>
            </a:r>
            <a:endParaRPr lang="en-US" sz="800" dirty="0"/>
          </a:p>
        </p:txBody>
      </p:sp>
      <p:sp>
        <p:nvSpPr>
          <p:cNvPr id="11" name="Shape 6"/>
          <p:cNvSpPr/>
          <p:nvPr/>
        </p:nvSpPr>
        <p:spPr>
          <a:xfrm>
            <a:off x="11722608" y="6355080"/>
            <a:ext cx="201168" cy="201168"/>
          </a:xfrm>
          <a:prstGeom prst="arc">
            <a:avLst/>
          </a:prstGeom>
          <a:solidFill>
            <a:srgbClr val="000000">
              <a:alpha val="0"/>
            </a:srgbClr>
          </a:solidFill>
          <a:ln w="12700">
            <a:solidFill>
              <a:srgbClr val="17263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7"/>
          <p:cNvSpPr/>
          <p:nvPr/>
        </p:nvSpPr>
        <p:spPr>
          <a:xfrm>
            <a:off x="11841480" y="6355080"/>
            <a:ext cx="201168" cy="201168"/>
          </a:xfrm>
          <a:prstGeom prst="arc">
            <a:avLst/>
          </a:prstGeom>
          <a:solidFill>
            <a:srgbClr val="000000">
              <a:alpha val="0"/>
            </a:srgbClr>
          </a:solidFill>
          <a:ln w="12700">
            <a:solidFill>
              <a:srgbClr val="17263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8"/>
          <p:cNvSpPr/>
          <p:nvPr/>
        </p:nvSpPr>
        <p:spPr>
          <a:xfrm>
            <a:off x="1188720" y="2011680"/>
            <a:ext cx="9829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6EDF3"/>
            </a:solidFill>
            <a:prstDash val="solid"/>
          </a:ln>
          <a:effectLst>
            <a:outerShdw blurRad="19050" dist="50800" dir="2700000" algn="bl" rotWithShape="0">
              <a:srgbClr val="C6D0D9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9"/>
          <p:cNvSpPr/>
          <p:nvPr/>
        </p:nvSpPr>
        <p:spPr>
          <a:xfrm>
            <a:off x="1188720" y="2011680"/>
            <a:ext cx="9829800" cy="329184"/>
          </a:xfrm>
          <a:prstGeom prst="rect">
            <a:avLst/>
          </a:prstGeom>
          <a:solidFill>
            <a:srgbClr val="009DD0"/>
          </a:solidFill>
          <a:ln w="12700">
            <a:solidFill>
              <a:srgbClr val="009D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0"/>
          <p:cNvSpPr/>
          <p:nvPr/>
        </p:nvSpPr>
        <p:spPr>
          <a:xfrm>
            <a:off x="1261872" y="2066544"/>
            <a:ext cx="9683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Cited template source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1316736" y="2450592"/>
            <a:ext cx="9573768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Simon Peyton Jones. How to write a great research paper. Microsoft Research, 2016.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5384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microsoft.com/en-us/research/wp-content/uploads/2016/07/How-to-write-a-great-research-paper.pdf</a:t>
            </a:r>
            <a:endParaRPr lang="en-US" sz="1300" dirty="0"/>
          </a:p>
        </p:txBody>
      </p:sp>
      <p:pic>
        <p:nvPicPr>
          <p:cNvPr id="17" name="Image 3" descr="/mnt/data/ppt_logo_assets/topo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4440" y="3886200"/>
            <a:ext cx="1889760" cy="1417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749040" y="58521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66C7A"/>
                </a:solidFill>
                <a:latin typeface="Computer Modern Sans Serif" pitchFamily="34" charset="0"/>
                <a:ea typeface="Computer Modern Sans Serif" pitchFamily="34" charset="-122"/>
                <a:cs typeface="Computer Modern Sans Serif" pitchFamily="34" charset="-120"/>
              </a:rPr>
              <a:t>Questions · Discussion · Next steps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omputer Modern Sans Serif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mputer Modern Sans Serif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1502</Words>
  <Application>Microsoft Macintosh PowerPoint</Application>
  <PresentationFormat>Widescreen</PresentationFormat>
  <Paragraphs>389</Paragraphs>
  <Slides>31</Slides>
  <Notes>31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31</vt:i4>
      </vt:variant>
    </vt:vector>
  </HeadingPairs>
  <TitlesOfParts>
    <vt:vector size="34" baseType="lpstr">
      <vt:lpstr>Arial</vt:lpstr>
      <vt:lpstr>Computer Modern Sans Serif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ISISLab / UNISA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Paper Presentation Template</dc:title>
  <dc:subject>Editable PowerPoint recreation of LaTeX Beamer template</dc:subject>
  <dc:creator>OpenAI</dc:creator>
  <cp:lastModifiedBy>Carmine SPAGNUOLO</cp:lastModifiedBy>
  <cp:revision>2</cp:revision>
  <dcterms:created xsi:type="dcterms:W3CDTF">2026-07-20T14:35:44Z</dcterms:created>
  <dcterms:modified xsi:type="dcterms:W3CDTF">2026-07-20T14:44:44Z</dcterms:modified>
</cp:coreProperties>
</file>